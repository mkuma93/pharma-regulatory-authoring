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8" r:id="rId2"/>
    <p:sldId id="263" r:id="rId3"/>
    <p:sldId id="256" r:id="rId4"/>
    <p:sldId id="264" r:id="rId5"/>
    <p:sldId id="259"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18"/>
    <p:restoredTop sz="94681"/>
  </p:normalViewPr>
  <p:slideViewPr>
    <p:cSldViewPr snapToGrid="0">
      <p:cViewPr varScale="1">
        <p:scale>
          <a:sx n="97" d="100"/>
          <a:sy n="97" d="100"/>
        </p:scale>
        <p:origin x="232"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C829DC-F09D-0E41-88E8-27BFDBAD7D69}" type="datetimeFigureOut">
              <a:rPr lang="en-US" smtClean="0"/>
              <a:t>4/13/26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21CAA3-D09C-A341-8E15-4CCDBEA8C137}" type="slidenum">
              <a:rPr lang="en-US" smtClean="0"/>
              <a:t>‹#›</a:t>
            </a:fld>
            <a:endParaRPr lang="en-US"/>
          </a:p>
        </p:txBody>
      </p:sp>
    </p:spTree>
    <p:extLst>
      <p:ext uri="{BB962C8B-B14F-4D97-AF65-F5344CB8AC3E}">
        <p14:creationId xmlns:p14="http://schemas.microsoft.com/office/powerpoint/2010/main" val="3873670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AI-driven CTD structure scaffolding enables precise methodology refinement. Compliance officer approval ensures CTD structures are copied to the program level for regulatory alignment. Template generation and mapping to CTD modules involve collaboration among Data-Analyst agents, module-wise personnel, validators, and content writers, with global state management and state persistence for robust workflow control.</a:t>
            </a:r>
          </a:p>
        </p:txBody>
      </p:sp>
      <p:sp>
        <p:nvSpPr>
          <p:cNvPr id="4" name="Slide Number Placeholder 3"/>
          <p:cNvSpPr>
            <a:spLocks noGrp="1"/>
          </p:cNvSpPr>
          <p:nvPr>
            <p:ph type="sldNum" sz="quarter" idx="5"/>
          </p:nvPr>
        </p:nvSpPr>
        <p:spPr/>
        <p:txBody>
          <a:bodyPr/>
          <a:lstStyle/>
          <a:p>
            <a:fld id="{7121CAA3-D09C-A341-8E15-4CCDBEA8C137}" type="slidenum">
              <a:rPr lang="en-US" smtClean="0"/>
              <a:t>5</a:t>
            </a:fld>
            <a:endParaRPr lang="en-US"/>
          </a:p>
        </p:txBody>
      </p:sp>
    </p:spTree>
    <p:extLst>
      <p:ext uri="{BB962C8B-B14F-4D97-AF65-F5344CB8AC3E}">
        <p14:creationId xmlns:p14="http://schemas.microsoft.com/office/powerpoint/2010/main" val="889123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EC798-0CF8-F1FC-1826-DAD10BFD2F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F40891-B06C-C53D-FAF5-AC85F7CA2E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4BCEFA-D9B0-07D7-D64F-BA5C8AB04E85}"/>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5" name="Footer Placeholder 4">
            <a:extLst>
              <a:ext uri="{FF2B5EF4-FFF2-40B4-BE49-F238E27FC236}">
                <a16:creationId xmlns:a16="http://schemas.microsoft.com/office/drawing/2014/main" id="{DFB32CE1-6039-96CC-CA19-4D19D7B1E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68A5BA-5AFC-3ACE-C65D-C39BAEBBEB65}"/>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625291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6768A-80DA-7465-8C7A-C115A09C01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80374A-E881-8254-0C80-6CA7B946C4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3E8E6-7F56-9267-6AC2-767E4EB16FA6}"/>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5" name="Footer Placeholder 4">
            <a:extLst>
              <a:ext uri="{FF2B5EF4-FFF2-40B4-BE49-F238E27FC236}">
                <a16:creationId xmlns:a16="http://schemas.microsoft.com/office/drawing/2014/main" id="{D9E71229-A9DC-6459-9E76-3EB632062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C89D6-8472-F11A-82D1-118F23705CF0}"/>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254830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5407-5A8C-FD03-92DA-D0819E83B5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D2B77D-1D63-C1D2-095A-47D8799B2E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AC477-9746-FF8D-97CC-839F69CC9AE8}"/>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5" name="Footer Placeholder 4">
            <a:extLst>
              <a:ext uri="{FF2B5EF4-FFF2-40B4-BE49-F238E27FC236}">
                <a16:creationId xmlns:a16="http://schemas.microsoft.com/office/drawing/2014/main" id="{36A27B8A-8A7E-8F9C-87BB-8635B47F9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126E27-5C06-2B5B-8BC9-2ED7D76F44CE}"/>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394652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D8ACA-5C17-4B50-6075-3CCBE9A37E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CF27D6-CD80-F992-A9E2-AC688DAE24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716EBD-90AC-1FB4-7B8D-145D47EFD2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D84A68-01AE-C3E1-14B0-3471E40682C9}"/>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6" name="Footer Placeholder 5">
            <a:extLst>
              <a:ext uri="{FF2B5EF4-FFF2-40B4-BE49-F238E27FC236}">
                <a16:creationId xmlns:a16="http://schemas.microsoft.com/office/drawing/2014/main" id="{1B3E93E9-B410-9B22-431D-B9EE9ABBB1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8DD736-1422-ECB0-586B-113C9AFEACA7}"/>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73667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17294-5112-513C-07AD-216C63B467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61EA14-4F10-17B1-54B5-4ADA57C2BC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B25FE1-0387-7FBF-755C-558FDFBC5B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E0D959-1FCB-FA78-5456-0C12593ECB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69951D-1808-496D-DA18-957A7CBBAB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502B81-3F6A-2416-D52B-D8A1C02A6C12}"/>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8" name="Footer Placeholder 7">
            <a:extLst>
              <a:ext uri="{FF2B5EF4-FFF2-40B4-BE49-F238E27FC236}">
                <a16:creationId xmlns:a16="http://schemas.microsoft.com/office/drawing/2014/main" id="{7D30415E-63BA-4653-6A14-6FAC835B04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E6AD14-4127-A68E-ADC2-474175B80950}"/>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54279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D163-14E9-27CD-9CA6-15A4FFDEAA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B0DF0D-EB19-E9EA-3F51-DDFBAA08BF3F}"/>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4" name="Footer Placeholder 3">
            <a:extLst>
              <a:ext uri="{FF2B5EF4-FFF2-40B4-BE49-F238E27FC236}">
                <a16:creationId xmlns:a16="http://schemas.microsoft.com/office/drawing/2014/main" id="{DF75956C-8884-E0F7-B5B1-5B016CE284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77611A-B6EA-155F-E078-D28E8407A06C}"/>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114024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499902-7749-9D45-6689-34AA59CF0EFC}"/>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3" name="Footer Placeholder 2">
            <a:extLst>
              <a:ext uri="{FF2B5EF4-FFF2-40B4-BE49-F238E27FC236}">
                <a16:creationId xmlns:a16="http://schemas.microsoft.com/office/drawing/2014/main" id="{3A132025-6020-A50D-A851-7FC508F62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CAEFF4-4905-9A4B-B255-EC14FAD0DD45}"/>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728815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C1E6C-99FB-3067-110B-AA9721FA78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D3F247-B05E-63E5-BB45-FBC28D9EF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FE93D3-AB7F-261C-6308-607DCE53A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E7187-2894-5088-775E-17C0B564DE72}"/>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6" name="Footer Placeholder 5">
            <a:extLst>
              <a:ext uri="{FF2B5EF4-FFF2-40B4-BE49-F238E27FC236}">
                <a16:creationId xmlns:a16="http://schemas.microsoft.com/office/drawing/2014/main" id="{9FF7229B-D635-3385-BE81-644A125634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C8A5CB-EC36-1A1A-DEE9-E2EBD1A3883B}"/>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3973026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4A330-D09E-4DBA-F248-BC64C5B713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45BD56-772B-A8A9-A91B-87CE93AFA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CCD5C6-398C-8A35-81BF-C855F9E1C3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4A1628-54FC-4268-11C3-F10B75C55951}"/>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6" name="Footer Placeholder 5">
            <a:extLst>
              <a:ext uri="{FF2B5EF4-FFF2-40B4-BE49-F238E27FC236}">
                <a16:creationId xmlns:a16="http://schemas.microsoft.com/office/drawing/2014/main" id="{839246D8-4051-5904-EA1F-DD8D47F5B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E4354D-8B3F-4F57-D97B-F0D99C6EC5AE}"/>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3517873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AA18-92BE-6448-714B-EC4091FF4E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C2059E-3FB6-AB3F-16FB-5BBD097267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F288D0-F2C3-9488-ADBB-2F897F3C880A}"/>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5" name="Footer Placeholder 4">
            <a:extLst>
              <a:ext uri="{FF2B5EF4-FFF2-40B4-BE49-F238E27FC236}">
                <a16:creationId xmlns:a16="http://schemas.microsoft.com/office/drawing/2014/main" id="{ACB16E30-580A-55E5-C716-FCCC68AE3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4D41A-20DF-54F7-4F63-CF6C3ECB56C8}"/>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282241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B99B31-1A14-C594-13FA-B0CCDE9A80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870E8D-15D0-D9DD-28A1-6D91649EDB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4D794E-4F31-5369-7020-EB133FC0D461}"/>
              </a:ext>
            </a:extLst>
          </p:cNvPr>
          <p:cNvSpPr>
            <a:spLocks noGrp="1"/>
          </p:cNvSpPr>
          <p:nvPr>
            <p:ph type="dt" sz="half" idx="10"/>
          </p:nvPr>
        </p:nvSpPr>
        <p:spPr/>
        <p:txBody>
          <a:bodyPr/>
          <a:lstStyle/>
          <a:p>
            <a:fld id="{339B7B85-C979-D445-B913-DAEE4AF6E7F5}" type="datetimeFigureOut">
              <a:rPr lang="en-US" smtClean="0"/>
              <a:t>4/13/26</a:t>
            </a:fld>
            <a:endParaRPr lang="en-US"/>
          </a:p>
        </p:txBody>
      </p:sp>
      <p:sp>
        <p:nvSpPr>
          <p:cNvPr id="5" name="Footer Placeholder 4">
            <a:extLst>
              <a:ext uri="{FF2B5EF4-FFF2-40B4-BE49-F238E27FC236}">
                <a16:creationId xmlns:a16="http://schemas.microsoft.com/office/drawing/2014/main" id="{F1ED622E-92E5-165F-D282-8BE3A6276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45CEB-EC6C-118F-D8A8-413FB7288BB8}"/>
              </a:ext>
            </a:extLst>
          </p:cNvPr>
          <p:cNvSpPr>
            <a:spLocks noGrp="1"/>
          </p:cNvSpPr>
          <p:nvPr>
            <p:ph type="sldNum" sz="quarter" idx="12"/>
          </p:nvPr>
        </p:nvSpPr>
        <p:spPr/>
        <p:txBody>
          <a:bodyPr/>
          <a:lstStyle/>
          <a:p>
            <a:fld id="{CA8C48D7-CD17-4544-988F-0233C32EDF71}" type="slidenum">
              <a:rPr lang="en-US" smtClean="0"/>
              <a:t>‹#›</a:t>
            </a:fld>
            <a:endParaRPr lang="en-US"/>
          </a:p>
        </p:txBody>
      </p:sp>
    </p:spTree>
    <p:extLst>
      <p:ext uri="{BB962C8B-B14F-4D97-AF65-F5344CB8AC3E}">
        <p14:creationId xmlns:p14="http://schemas.microsoft.com/office/powerpoint/2010/main" val="3310766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54916B-FB5F-928E-874E-08F6EE1523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D91E26-F8F2-DB68-7CEF-847CBB424A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15386C-EB69-EF28-C905-861A5359CF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9B7B85-C979-D445-B913-DAEE4AF6E7F5}" type="datetimeFigureOut">
              <a:rPr lang="en-US" smtClean="0"/>
              <a:t>4/13/26</a:t>
            </a:fld>
            <a:endParaRPr lang="en-US"/>
          </a:p>
        </p:txBody>
      </p:sp>
      <p:sp>
        <p:nvSpPr>
          <p:cNvPr id="5" name="Footer Placeholder 4">
            <a:extLst>
              <a:ext uri="{FF2B5EF4-FFF2-40B4-BE49-F238E27FC236}">
                <a16:creationId xmlns:a16="http://schemas.microsoft.com/office/drawing/2014/main" id="{1F4252B3-0896-C5CE-6431-C7B23D8E0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8EBEDA-EC35-37D1-290C-0F3D461C3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8C48D7-CD17-4544-988F-0233C32EDF71}" type="slidenum">
              <a:rPr lang="en-US" smtClean="0"/>
              <a:t>‹#›</a:t>
            </a:fld>
            <a:endParaRPr lang="en-US"/>
          </a:p>
        </p:txBody>
      </p:sp>
    </p:spTree>
    <p:extLst>
      <p:ext uri="{BB962C8B-B14F-4D97-AF65-F5344CB8AC3E}">
        <p14:creationId xmlns:p14="http://schemas.microsoft.com/office/powerpoint/2010/main" val="3647363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kaggle.com/datasets/dillonmyrick/bells-palsy-clinical-trial"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3.jpe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A03ACF-065C-E770-928D-B95CE75887F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E627E7E-B066-A543-8DD5-CBD269E30CAD}"/>
              </a:ext>
            </a:extLst>
          </p:cNvPr>
          <p:cNvSpPr/>
          <p:nvPr/>
        </p:nvSpPr>
        <p:spPr>
          <a:xfrm>
            <a:off x="838199" y="4428000"/>
            <a:ext cx="6143626" cy="140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rtlCol="0" anchor="b">
            <a:normAutofit/>
          </a:bodyPr>
          <a:lstStyle/>
          <a:p>
            <a:pPr>
              <a:lnSpc>
                <a:spcPct val="90000"/>
              </a:lnSpc>
              <a:spcBef>
                <a:spcPct val="0"/>
              </a:spcBef>
              <a:spcAft>
                <a:spcPts val="600"/>
              </a:spcAft>
            </a:pPr>
            <a:r>
              <a:rPr lang="en-US" sz="4300" kern="1200">
                <a:solidFill>
                  <a:schemeClr val="bg1"/>
                </a:solidFill>
                <a:latin typeface="+mj-lt"/>
                <a:ea typeface="+mj-ea"/>
                <a:cs typeface="+mj-cs"/>
              </a:rPr>
              <a:t>AI-Driven Regulatory Authoring</a:t>
            </a:r>
          </a:p>
        </p:txBody>
      </p:sp>
      <p:pic>
        <p:nvPicPr>
          <p:cNvPr id="5" name="Picture 4" descr="A diagram of a risk management process&#10;&#10;AI-generated content may be incorrect.">
            <a:extLst>
              <a:ext uri="{FF2B5EF4-FFF2-40B4-BE49-F238E27FC236}">
                <a16:creationId xmlns:a16="http://schemas.microsoft.com/office/drawing/2014/main" id="{C4F457C7-2B9B-181B-CEC9-87C0C34F9741}"/>
              </a:ext>
            </a:extLst>
          </p:cNvPr>
          <p:cNvPicPr>
            <a:picLocks noChangeAspect="1"/>
          </p:cNvPicPr>
          <p:nvPr/>
        </p:nvPicPr>
        <p:blipFill>
          <a:blip r:embed="rId2"/>
          <a:srcRect r="1" b="2339"/>
          <a:stretch>
            <a:fillRect/>
          </a:stretch>
        </p:blipFill>
        <p:spPr>
          <a:xfrm>
            <a:off x="6" y="-1"/>
            <a:ext cx="6000749" cy="3911828"/>
          </a:xfrm>
          <a:custGeom>
            <a:avLst/>
            <a:gdLst/>
            <a:ahLst/>
            <a:cxnLst/>
            <a:rect l="l" t="t" r="r" b="b"/>
            <a:pathLst>
              <a:path w="6000749" h="3911828">
                <a:moveTo>
                  <a:pt x="0" y="0"/>
                </a:moveTo>
                <a:lnTo>
                  <a:pt x="6000749" y="0"/>
                </a:lnTo>
                <a:lnTo>
                  <a:pt x="6000749" y="3767827"/>
                </a:lnTo>
                <a:lnTo>
                  <a:pt x="5572124" y="3740378"/>
                </a:lnTo>
                <a:lnTo>
                  <a:pt x="0" y="3911828"/>
                </a:lnTo>
                <a:close/>
              </a:path>
            </a:pathLst>
          </a:custGeom>
        </p:spPr>
      </p:pic>
      <p:pic>
        <p:nvPicPr>
          <p:cNvPr id="2" name="Picture 1" descr="A screenshot of a computer&#10;&#10;AI-generated content may be incorrect.">
            <a:extLst>
              <a:ext uri="{FF2B5EF4-FFF2-40B4-BE49-F238E27FC236}">
                <a16:creationId xmlns:a16="http://schemas.microsoft.com/office/drawing/2014/main" id="{227C9137-F376-0E2E-03A8-F4C34D0785A3}"/>
              </a:ext>
            </a:extLst>
          </p:cNvPr>
          <p:cNvPicPr>
            <a:picLocks noChangeAspect="1"/>
          </p:cNvPicPr>
          <p:nvPr/>
        </p:nvPicPr>
        <p:blipFill>
          <a:blip r:embed="rId3"/>
          <a:srcRect r="1" b="437"/>
          <a:stretch>
            <a:fillRect/>
          </a:stretch>
        </p:blipFill>
        <p:spPr>
          <a:xfrm>
            <a:off x="6191245" y="-1"/>
            <a:ext cx="6000750"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p:spPr>
      </p:pic>
      <p:grpSp>
        <p:nvGrpSpPr>
          <p:cNvPr id="21" name="Group 20">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2" name="Freeform: Shape 21">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248348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D993DB-1297-98B8-3AEE-711CA093BB9B}"/>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3689A62-ED5E-EEA9-4131-F28DA855A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9" name="Rectangle 38">
            <a:extLst>
              <a:ext uri="{FF2B5EF4-FFF2-40B4-BE49-F238E27FC236}">
                <a16:creationId xmlns:a16="http://schemas.microsoft.com/office/drawing/2014/main" id="{1E9F2552-553A-33B2-53C8-FF56E7619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D858FAB-131A-E7D6-5B1B-56D59791F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D30D9BF-D62B-32FA-D395-4E9DC198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24BCE5AC-4B6F-4A60-123B-1B89A84D1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03667EB-033D-CC3F-6CDD-C31C9F0B0F56}"/>
              </a:ext>
            </a:extLst>
          </p:cNvPr>
          <p:cNvSpPr/>
          <p:nvPr/>
        </p:nvSpPr>
        <p:spPr>
          <a:xfrm>
            <a:off x="328655" y="226800"/>
            <a:ext cx="7914198" cy="11096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pPr fontAlgn="ctr"/>
            <a:endParaRPr lang="en-US" sz="2000" b="1" dirty="0"/>
          </a:p>
          <a:p>
            <a:pPr fontAlgn="ctr"/>
            <a:r>
              <a:rPr lang="en-US" sz="2000" b="1" dirty="0"/>
              <a:t>Objective</a:t>
            </a:r>
            <a:endParaRPr lang="en-US" sz="2000" dirty="0"/>
          </a:p>
          <a:p>
            <a:r>
              <a:rPr lang="en-US" dirty="0"/>
              <a:t>Design an AI‑powered regulatory authoring platform that accelerates submissions while preserving regulatory control, consistency, and audit‑readiness across the product lifecycle.</a:t>
            </a:r>
          </a:p>
          <a:p>
            <a:pPr fontAlgn="t"/>
            <a:endParaRPr lang="en-US" sz="2000" dirty="0"/>
          </a:p>
        </p:txBody>
      </p:sp>
      <p:sp>
        <p:nvSpPr>
          <p:cNvPr id="26" name="Left-Right Arrow 25">
            <a:extLst>
              <a:ext uri="{FF2B5EF4-FFF2-40B4-BE49-F238E27FC236}">
                <a16:creationId xmlns:a16="http://schemas.microsoft.com/office/drawing/2014/main" id="{C8D8A71F-5F53-4603-9141-FACEEB9AB39B}"/>
              </a:ext>
            </a:extLst>
          </p:cNvPr>
          <p:cNvSpPr/>
          <p:nvPr/>
        </p:nvSpPr>
        <p:spPr>
          <a:xfrm>
            <a:off x="8571507" y="387224"/>
            <a:ext cx="3291839" cy="83045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a:lnSpc>
                <a:spcPct val="90000"/>
              </a:lnSpc>
              <a:spcBef>
                <a:spcPts val="1000"/>
              </a:spcBef>
            </a:pPr>
            <a:r>
              <a:rPr lang="en-US" sz="1600">
                <a:solidFill>
                  <a:srgbClr val="FFFFFF"/>
                </a:solidFill>
              </a:rPr>
              <a:t>Traceability state persistence</a:t>
            </a:r>
          </a:p>
        </p:txBody>
      </p:sp>
      <p:sp>
        <p:nvSpPr>
          <p:cNvPr id="41" name="TextBox 40">
            <a:extLst>
              <a:ext uri="{FF2B5EF4-FFF2-40B4-BE49-F238E27FC236}">
                <a16:creationId xmlns:a16="http://schemas.microsoft.com/office/drawing/2014/main" id="{CFDDA40F-744D-ADE2-AA77-4E404C6170FB}"/>
              </a:ext>
            </a:extLst>
          </p:cNvPr>
          <p:cNvSpPr txBox="1"/>
          <p:nvPr/>
        </p:nvSpPr>
        <p:spPr>
          <a:xfrm>
            <a:off x="8571507" y="6301499"/>
            <a:ext cx="8706721" cy="338554"/>
          </a:xfrm>
          <a:prstGeom prst="rect">
            <a:avLst/>
          </a:prstGeom>
          <a:noFill/>
        </p:spPr>
        <p:txBody>
          <a:bodyPr wrap="square" rtlCol="0">
            <a:spAutoFit/>
          </a:bodyPr>
          <a:lstStyle/>
          <a:p>
            <a:r>
              <a:rPr lang="en-US" sz="800" b="1" dirty="0"/>
              <a:t>Data used in </a:t>
            </a:r>
            <a:r>
              <a:rPr lang="en-US" sz="800" b="1" dirty="0" err="1"/>
              <a:t>demo:</a:t>
            </a:r>
            <a:r>
              <a:rPr lang="en-US" sz="800" dirty="0" err="1"/>
              <a:t>Clinical</a:t>
            </a:r>
            <a:r>
              <a:rPr lang="en-US" sz="800" dirty="0"/>
              <a:t> Data: Bells Palsy</a:t>
            </a:r>
          </a:p>
          <a:p>
            <a:r>
              <a:rPr lang="en-US" sz="800" dirty="0">
                <a:hlinkClick r:id="rId2"/>
              </a:rPr>
              <a:t>https://www.kaggle.com/datasets/dillonmyrick/bells-palsy-clinical-trial</a:t>
            </a:r>
            <a:endParaRPr lang="en-US" sz="800" dirty="0"/>
          </a:p>
        </p:txBody>
      </p:sp>
      <p:pic>
        <p:nvPicPr>
          <p:cNvPr id="6" name="Picture 5" descr="A diagram of a diagram&#10;&#10;AI-generated content may be incorrect.">
            <a:extLst>
              <a:ext uri="{FF2B5EF4-FFF2-40B4-BE49-F238E27FC236}">
                <a16:creationId xmlns:a16="http://schemas.microsoft.com/office/drawing/2014/main" id="{C9CF6CD1-55F0-8B1F-3541-0D332F3942DE}"/>
              </a:ext>
            </a:extLst>
          </p:cNvPr>
          <p:cNvPicPr>
            <a:picLocks noChangeAspect="1"/>
          </p:cNvPicPr>
          <p:nvPr/>
        </p:nvPicPr>
        <p:blipFill>
          <a:blip r:embed="rId3"/>
          <a:stretch>
            <a:fillRect/>
          </a:stretch>
        </p:blipFill>
        <p:spPr>
          <a:xfrm>
            <a:off x="973006" y="1934564"/>
            <a:ext cx="4030109" cy="4214192"/>
          </a:xfrm>
          <a:prstGeom prst="rect">
            <a:avLst/>
          </a:prstGeom>
        </p:spPr>
      </p:pic>
      <p:sp>
        <p:nvSpPr>
          <p:cNvPr id="16" name="TextBox 15">
            <a:extLst>
              <a:ext uri="{FF2B5EF4-FFF2-40B4-BE49-F238E27FC236}">
                <a16:creationId xmlns:a16="http://schemas.microsoft.com/office/drawing/2014/main" id="{1F145180-FC50-5618-16DD-B87F1198C875}"/>
              </a:ext>
            </a:extLst>
          </p:cNvPr>
          <p:cNvSpPr txBox="1"/>
          <p:nvPr/>
        </p:nvSpPr>
        <p:spPr>
          <a:xfrm>
            <a:off x="1096312" y="6388771"/>
            <a:ext cx="9046494" cy="288862"/>
          </a:xfrm>
          <a:prstGeom prst="rect">
            <a:avLst/>
          </a:prstGeom>
          <a:noFill/>
        </p:spPr>
        <p:txBody>
          <a:bodyPr wrap="square">
            <a:spAutoFit/>
          </a:bodyPr>
          <a:lstStyle/>
          <a:p>
            <a:pPr algn="l">
              <a:lnSpc>
                <a:spcPts val="1500"/>
              </a:lnSpc>
              <a:buNone/>
            </a:pPr>
            <a:r>
              <a:rPr lang="en-US" b="0" i="0" dirty="0">
                <a:solidFill>
                  <a:srgbClr val="000000"/>
                </a:solidFill>
                <a:effectLst/>
                <a:latin typeface="Segoe UI" panose="020B0502040204020203" pitchFamily="34" charset="0"/>
              </a:rPr>
              <a:t>AI‑driven regulatory authoring that reduces risk, not control.</a:t>
            </a:r>
          </a:p>
        </p:txBody>
      </p:sp>
      <p:sp>
        <p:nvSpPr>
          <p:cNvPr id="22" name="Right Arrow 21">
            <a:extLst>
              <a:ext uri="{FF2B5EF4-FFF2-40B4-BE49-F238E27FC236}">
                <a16:creationId xmlns:a16="http://schemas.microsoft.com/office/drawing/2014/main" id="{992B3C97-67A3-0DC2-B7E8-7D149D4D3F22}"/>
              </a:ext>
            </a:extLst>
          </p:cNvPr>
          <p:cNvSpPr/>
          <p:nvPr/>
        </p:nvSpPr>
        <p:spPr>
          <a:xfrm>
            <a:off x="5080282" y="3928361"/>
            <a:ext cx="1352391" cy="2888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FA3FB8D-F94D-F7AB-D9A3-277854834848}"/>
              </a:ext>
            </a:extLst>
          </p:cNvPr>
          <p:cNvPicPr>
            <a:picLocks noChangeAspect="1"/>
          </p:cNvPicPr>
          <p:nvPr/>
        </p:nvPicPr>
        <p:blipFill>
          <a:blip r:embed="rId4"/>
          <a:stretch>
            <a:fillRect/>
          </a:stretch>
        </p:blipFill>
        <p:spPr>
          <a:xfrm>
            <a:off x="6509840" y="2288290"/>
            <a:ext cx="5353505" cy="3569003"/>
          </a:xfrm>
          <a:prstGeom prst="rect">
            <a:avLst/>
          </a:prstGeom>
        </p:spPr>
      </p:pic>
      <p:sp>
        <p:nvSpPr>
          <p:cNvPr id="5" name="Rounded Rectangle 4">
            <a:extLst>
              <a:ext uri="{FF2B5EF4-FFF2-40B4-BE49-F238E27FC236}">
                <a16:creationId xmlns:a16="http://schemas.microsoft.com/office/drawing/2014/main" id="{BE848633-C26E-8365-B61F-7D1C78206F65}"/>
              </a:ext>
            </a:extLst>
          </p:cNvPr>
          <p:cNvSpPr/>
          <p:nvPr/>
        </p:nvSpPr>
        <p:spPr>
          <a:xfrm>
            <a:off x="1096312" y="2756453"/>
            <a:ext cx="838505" cy="3048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p Arrow 6">
            <a:extLst>
              <a:ext uri="{FF2B5EF4-FFF2-40B4-BE49-F238E27FC236}">
                <a16:creationId xmlns:a16="http://schemas.microsoft.com/office/drawing/2014/main" id="{7265B817-8C0E-19D0-015E-A3180BE39DD9}"/>
              </a:ext>
            </a:extLst>
          </p:cNvPr>
          <p:cNvSpPr/>
          <p:nvPr/>
        </p:nvSpPr>
        <p:spPr>
          <a:xfrm>
            <a:off x="874643" y="3061253"/>
            <a:ext cx="98363" cy="103366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C99155B-5D04-B149-C1A8-AA898F304279}"/>
              </a:ext>
            </a:extLst>
          </p:cNvPr>
          <p:cNvSpPr txBox="1"/>
          <p:nvPr/>
        </p:nvSpPr>
        <p:spPr>
          <a:xfrm>
            <a:off x="348404" y="2754054"/>
            <a:ext cx="838505" cy="215444"/>
          </a:xfrm>
          <a:prstGeom prst="rect">
            <a:avLst/>
          </a:prstGeom>
          <a:noFill/>
        </p:spPr>
        <p:txBody>
          <a:bodyPr vert="horz" wrap="square" rtlCol="0">
            <a:spAutoFit/>
          </a:bodyPr>
          <a:lstStyle/>
          <a:p>
            <a:r>
              <a:rPr lang="en-US" sz="800" dirty="0"/>
              <a:t>CTD Mapping</a:t>
            </a:r>
          </a:p>
        </p:txBody>
      </p:sp>
    </p:spTree>
    <p:extLst>
      <p:ext uri="{BB962C8B-B14F-4D97-AF65-F5344CB8AC3E}">
        <p14:creationId xmlns:p14="http://schemas.microsoft.com/office/powerpoint/2010/main" val="1605044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9" name="Rectangle 3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B3D5398-4881-A89D-96FE-3EA60B61F895}"/>
              </a:ext>
            </a:extLst>
          </p:cNvPr>
          <p:cNvSpPr/>
          <p:nvPr/>
        </p:nvSpPr>
        <p:spPr>
          <a:xfrm>
            <a:off x="328654" y="226800"/>
            <a:ext cx="11657019" cy="11377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pPr fontAlgn="ctr"/>
            <a:endParaRPr lang="en-US" sz="2000" b="1" dirty="0"/>
          </a:p>
          <a:p>
            <a:pPr fontAlgn="ctr"/>
            <a:r>
              <a:rPr lang="en-US" sz="2000" b="1" dirty="0"/>
              <a:t>AI-Authoring - How</a:t>
            </a:r>
            <a:endParaRPr lang="en-US" dirty="0"/>
          </a:p>
          <a:p>
            <a:pPr fontAlgn="t"/>
            <a:endParaRPr lang="en-US" sz="2000" dirty="0"/>
          </a:p>
        </p:txBody>
      </p:sp>
      <p:pic>
        <p:nvPicPr>
          <p:cNvPr id="2" name="Picture 1">
            <a:extLst>
              <a:ext uri="{FF2B5EF4-FFF2-40B4-BE49-F238E27FC236}">
                <a16:creationId xmlns:a16="http://schemas.microsoft.com/office/drawing/2014/main" id="{9F0F780D-16D5-BB17-9788-5F491347B37E}"/>
              </a:ext>
            </a:extLst>
          </p:cNvPr>
          <p:cNvPicPr>
            <a:picLocks noChangeAspect="1"/>
          </p:cNvPicPr>
          <p:nvPr/>
        </p:nvPicPr>
        <p:blipFill>
          <a:blip r:embed="rId2"/>
          <a:stretch>
            <a:fillRect/>
          </a:stretch>
        </p:blipFill>
        <p:spPr>
          <a:xfrm>
            <a:off x="6572012" y="2994579"/>
            <a:ext cx="4147570" cy="2765047"/>
          </a:xfrm>
          <a:prstGeom prst="rect">
            <a:avLst/>
          </a:prstGeom>
        </p:spPr>
      </p:pic>
      <p:sp>
        <p:nvSpPr>
          <p:cNvPr id="19" name="TextBox 18">
            <a:extLst>
              <a:ext uri="{FF2B5EF4-FFF2-40B4-BE49-F238E27FC236}">
                <a16:creationId xmlns:a16="http://schemas.microsoft.com/office/drawing/2014/main" id="{1928179F-862B-6D45-A946-C52FD29CC724}"/>
              </a:ext>
            </a:extLst>
          </p:cNvPr>
          <p:cNvSpPr txBox="1"/>
          <p:nvPr/>
        </p:nvSpPr>
        <p:spPr>
          <a:xfrm>
            <a:off x="915464" y="1742906"/>
            <a:ext cx="9277642" cy="288862"/>
          </a:xfrm>
          <a:prstGeom prst="rect">
            <a:avLst/>
          </a:prstGeom>
          <a:noFill/>
        </p:spPr>
        <p:txBody>
          <a:bodyPr wrap="square">
            <a:spAutoFit/>
          </a:bodyPr>
          <a:lstStyle/>
          <a:p>
            <a:pPr algn="l">
              <a:lnSpc>
                <a:spcPts val="1500"/>
              </a:lnSpc>
              <a:buNone/>
            </a:pPr>
            <a:r>
              <a:rPr lang="en-US" b="0" i="0" dirty="0">
                <a:solidFill>
                  <a:srgbClr val="000000"/>
                </a:solidFill>
                <a:effectLst/>
                <a:latin typeface="Segoe UI" panose="020B0502040204020203" pitchFamily="34" charset="0"/>
              </a:rPr>
              <a:t>This platform does not replace regulatory judgment — it operationalizes it.</a:t>
            </a:r>
          </a:p>
        </p:txBody>
      </p:sp>
      <p:sp>
        <p:nvSpPr>
          <p:cNvPr id="22" name="Right Arrow 21">
            <a:extLst>
              <a:ext uri="{FF2B5EF4-FFF2-40B4-BE49-F238E27FC236}">
                <a16:creationId xmlns:a16="http://schemas.microsoft.com/office/drawing/2014/main" id="{591C24AF-56D2-2078-2D36-F0489408479D}"/>
              </a:ext>
            </a:extLst>
          </p:cNvPr>
          <p:cNvSpPr/>
          <p:nvPr/>
        </p:nvSpPr>
        <p:spPr>
          <a:xfrm>
            <a:off x="5178908" y="4171582"/>
            <a:ext cx="441081" cy="1715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B458C75-3951-C5C0-B301-D4B00F93E17F}"/>
              </a:ext>
            </a:extLst>
          </p:cNvPr>
          <p:cNvPicPr>
            <a:picLocks noChangeAspect="1"/>
          </p:cNvPicPr>
          <p:nvPr/>
        </p:nvPicPr>
        <p:blipFill>
          <a:blip r:embed="rId3"/>
          <a:stretch>
            <a:fillRect/>
          </a:stretch>
        </p:blipFill>
        <p:spPr>
          <a:xfrm>
            <a:off x="165606" y="2629149"/>
            <a:ext cx="4933988" cy="3289325"/>
          </a:xfrm>
          <a:prstGeom prst="rect">
            <a:avLst/>
          </a:prstGeom>
        </p:spPr>
      </p:pic>
    </p:spTree>
    <p:extLst>
      <p:ext uri="{BB962C8B-B14F-4D97-AF65-F5344CB8AC3E}">
        <p14:creationId xmlns:p14="http://schemas.microsoft.com/office/powerpoint/2010/main" val="3276919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D47ACB-4F84-BC13-AD8A-E030332CBBEE}"/>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C4F2F28-3BA3-65FE-F04F-87D7F1F2248A}"/>
              </a:ext>
            </a:extLst>
          </p:cNvPr>
          <p:cNvPicPr>
            <a:picLocks noChangeAspect="1"/>
          </p:cNvPicPr>
          <p:nvPr/>
        </p:nvPicPr>
        <p:blipFill>
          <a:blip r:embed="rId2"/>
          <a:srcRect l="852" r="5030" b="-1"/>
          <a:stretch>
            <a:fillRect/>
          </a:stretch>
        </p:blipFill>
        <p:spPr>
          <a:xfrm>
            <a:off x="1" y="10"/>
            <a:ext cx="9669642" cy="6857990"/>
          </a:xfrm>
          <a:prstGeom prst="rect">
            <a:avLst/>
          </a:prstGeom>
        </p:spPr>
      </p:pic>
      <p:sp>
        <p:nvSpPr>
          <p:cNvPr id="52" name="Rectangle 5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301347C-5FBE-520B-26D8-ED1EBC6587A1}"/>
              </a:ext>
            </a:extLst>
          </p:cNvPr>
          <p:cNvSpPr/>
          <p:nvPr/>
        </p:nvSpPr>
        <p:spPr>
          <a:xfrm>
            <a:off x="7935402" y="743447"/>
            <a:ext cx="3445765" cy="36920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fontAlgn="ctr">
              <a:lnSpc>
                <a:spcPct val="90000"/>
              </a:lnSpc>
              <a:spcBef>
                <a:spcPct val="0"/>
              </a:spcBef>
              <a:spcAft>
                <a:spcPts val="600"/>
              </a:spcAft>
            </a:pPr>
            <a:endParaRPr lang="en-US" sz="4800" b="1">
              <a:solidFill>
                <a:schemeClr val="tx1"/>
              </a:solidFill>
              <a:latin typeface="+mj-lt"/>
              <a:ea typeface="+mj-ea"/>
              <a:cs typeface="+mj-cs"/>
            </a:endParaRPr>
          </a:p>
          <a:p>
            <a:pPr fontAlgn="ctr">
              <a:lnSpc>
                <a:spcPct val="90000"/>
              </a:lnSpc>
              <a:spcBef>
                <a:spcPct val="0"/>
              </a:spcBef>
              <a:spcAft>
                <a:spcPts val="600"/>
              </a:spcAft>
            </a:pPr>
            <a:r>
              <a:rPr lang="en-US" sz="4800" b="1">
                <a:solidFill>
                  <a:schemeClr val="tx1"/>
                </a:solidFill>
                <a:latin typeface="+mj-lt"/>
                <a:ea typeface="+mj-ea"/>
                <a:cs typeface="+mj-cs"/>
              </a:rPr>
              <a:t>AI-Authoring – Risk Mitigation</a:t>
            </a:r>
            <a:endParaRPr lang="en-US" sz="4800">
              <a:solidFill>
                <a:schemeClr val="tx1"/>
              </a:solidFill>
              <a:latin typeface="+mj-lt"/>
              <a:ea typeface="+mj-ea"/>
              <a:cs typeface="+mj-cs"/>
            </a:endParaRPr>
          </a:p>
          <a:p>
            <a:pPr fontAlgn="t">
              <a:lnSpc>
                <a:spcPct val="90000"/>
              </a:lnSpc>
              <a:spcBef>
                <a:spcPct val="0"/>
              </a:spcBef>
              <a:spcAft>
                <a:spcPts val="600"/>
              </a:spcAft>
            </a:pPr>
            <a:endParaRPr lang="en-US" sz="4800">
              <a:solidFill>
                <a:schemeClr val="tx1"/>
              </a:solidFill>
              <a:latin typeface="+mj-lt"/>
              <a:ea typeface="+mj-ea"/>
              <a:cs typeface="+mj-cs"/>
            </a:endParaRPr>
          </a:p>
        </p:txBody>
      </p:sp>
    </p:spTree>
    <p:extLst>
      <p:ext uri="{BB962C8B-B14F-4D97-AF65-F5344CB8AC3E}">
        <p14:creationId xmlns:p14="http://schemas.microsoft.com/office/powerpoint/2010/main" val="4146308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1" name="Rectangle 110">
            <a:extLst>
              <a:ext uri="{FF2B5EF4-FFF2-40B4-BE49-F238E27FC236}">
                <a16:creationId xmlns:a16="http://schemas.microsoft.com/office/drawing/2014/main" id="{114C78B5-EC6B-4A39-8860-705100867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D1140348-B289-C472-2E3E-0B120FB3BC9F}"/>
              </a:ext>
            </a:extLst>
          </p:cNvPr>
          <p:cNvSpPr>
            <a:spLocks noGrp="1"/>
          </p:cNvSpPr>
          <p:nvPr>
            <p:ph type="title"/>
          </p:nvPr>
        </p:nvSpPr>
        <p:spPr>
          <a:xfrm>
            <a:off x="838200" y="4669978"/>
            <a:ext cx="4391024" cy="1173700"/>
          </a:xfrm>
        </p:spPr>
        <p:txBody>
          <a:bodyPr vert="horz" lIns="91440" tIns="45720" rIns="91440" bIns="45720" rtlCol="0" anchor="t">
            <a:normAutofit/>
          </a:bodyPr>
          <a:lstStyle/>
          <a:p>
            <a:r>
              <a:rPr lang="en-US" sz="3700" kern="1200">
                <a:solidFill>
                  <a:schemeClr val="bg1"/>
                </a:solidFill>
                <a:latin typeface="+mj-lt"/>
                <a:ea typeface="+mj-ea"/>
                <a:cs typeface="+mj-cs"/>
              </a:rPr>
              <a:t>Example: How risk is minimised</a:t>
            </a:r>
          </a:p>
        </p:txBody>
      </p:sp>
      <p:pic>
        <p:nvPicPr>
          <p:cNvPr id="13" name="Picture 12" descr="A screenshot of a computer&#10;&#10;AI-generated content may be incorrect.">
            <a:extLst>
              <a:ext uri="{FF2B5EF4-FFF2-40B4-BE49-F238E27FC236}">
                <a16:creationId xmlns:a16="http://schemas.microsoft.com/office/drawing/2014/main" id="{FDF3AF43-B18B-79A3-4496-08D1530EF72D}"/>
              </a:ext>
            </a:extLst>
          </p:cNvPr>
          <p:cNvPicPr>
            <a:picLocks noChangeAspect="1"/>
          </p:cNvPicPr>
          <p:nvPr/>
        </p:nvPicPr>
        <p:blipFill>
          <a:blip r:embed="rId3"/>
          <a:srcRect t="12368" r="-2" b="28089"/>
          <a:stretch>
            <a:fillRect/>
          </a:stretch>
        </p:blipFill>
        <p:spPr>
          <a:xfrm>
            <a:off x="20" y="10"/>
            <a:ext cx="4000480" cy="3904882"/>
          </a:xfrm>
          <a:custGeom>
            <a:avLst/>
            <a:gdLst/>
            <a:ahLst/>
            <a:cxnLst/>
            <a:rect l="l" t="t" r="r" b="b"/>
            <a:pathLst>
              <a:path w="4000500" h="3413410">
                <a:moveTo>
                  <a:pt x="0" y="0"/>
                </a:moveTo>
                <a:lnTo>
                  <a:pt x="4000500" y="0"/>
                </a:lnTo>
                <a:lnTo>
                  <a:pt x="4000500" y="3330603"/>
                </a:lnTo>
                <a:lnTo>
                  <a:pt x="416174" y="3413410"/>
                </a:lnTo>
                <a:lnTo>
                  <a:pt x="0" y="3408169"/>
                </a:lnTo>
                <a:close/>
              </a:path>
            </a:pathLst>
          </a:custGeom>
        </p:spPr>
      </p:pic>
      <p:pic>
        <p:nvPicPr>
          <p:cNvPr id="20" name="Picture 19" descr="A screenshot of a computer&#10;&#10;AI-generated content may be incorrect.">
            <a:extLst>
              <a:ext uri="{FF2B5EF4-FFF2-40B4-BE49-F238E27FC236}">
                <a16:creationId xmlns:a16="http://schemas.microsoft.com/office/drawing/2014/main" id="{7C5F08F1-C133-A8FA-4698-53F065C5277F}"/>
              </a:ext>
            </a:extLst>
          </p:cNvPr>
          <p:cNvPicPr>
            <a:picLocks noChangeAspect="1"/>
          </p:cNvPicPr>
          <p:nvPr/>
        </p:nvPicPr>
        <p:blipFill>
          <a:blip r:embed="rId4"/>
          <a:srcRect r="63412" b="2"/>
          <a:stretch>
            <a:fillRect/>
          </a:stretch>
        </p:blipFill>
        <p:spPr>
          <a:xfrm>
            <a:off x="4191002" y="10"/>
            <a:ext cx="3809998" cy="3904881"/>
          </a:xfrm>
          <a:custGeom>
            <a:avLst/>
            <a:gdLst/>
            <a:ahLst/>
            <a:cxnLst/>
            <a:rect l="l" t="t" r="r" b="b"/>
            <a:pathLst>
              <a:path w="3809998" h="3361533">
                <a:moveTo>
                  <a:pt x="0" y="0"/>
                </a:moveTo>
                <a:lnTo>
                  <a:pt x="3809998" y="0"/>
                </a:lnTo>
                <a:lnTo>
                  <a:pt x="3809998" y="3353206"/>
                </a:lnTo>
                <a:lnTo>
                  <a:pt x="1781628" y="3181423"/>
                </a:lnTo>
                <a:lnTo>
                  <a:pt x="0" y="3361533"/>
                </a:lnTo>
                <a:close/>
              </a:path>
            </a:pathLst>
          </a:custGeom>
        </p:spPr>
      </p:pic>
      <p:pic>
        <p:nvPicPr>
          <p:cNvPr id="24" name="Picture 23" descr="A screenshot of a computer program&#10;&#10;AI-generated content may be incorrect.">
            <a:extLst>
              <a:ext uri="{FF2B5EF4-FFF2-40B4-BE49-F238E27FC236}">
                <a16:creationId xmlns:a16="http://schemas.microsoft.com/office/drawing/2014/main" id="{19CF0AD8-1F21-3474-0198-8093356E0C88}"/>
              </a:ext>
            </a:extLst>
          </p:cNvPr>
          <p:cNvPicPr>
            <a:picLocks noChangeAspect="1"/>
          </p:cNvPicPr>
          <p:nvPr/>
        </p:nvPicPr>
        <p:blipFill>
          <a:blip r:embed="rId5"/>
          <a:srcRect t="6065"/>
          <a:stretch>
            <a:fillRect/>
          </a:stretch>
        </p:blipFill>
        <p:spPr>
          <a:xfrm>
            <a:off x="8191500" y="-1"/>
            <a:ext cx="4000500" cy="4008409"/>
          </a:xfrm>
          <a:custGeom>
            <a:avLst/>
            <a:gdLst/>
            <a:ahLst/>
            <a:cxnLst/>
            <a:rect l="l" t="t" r="r" b="b"/>
            <a:pathLst>
              <a:path w="4000500" h="3403026">
                <a:moveTo>
                  <a:pt x="0" y="0"/>
                </a:moveTo>
                <a:lnTo>
                  <a:pt x="4000500" y="0"/>
                </a:lnTo>
                <a:lnTo>
                  <a:pt x="4000500" y="3403026"/>
                </a:lnTo>
                <a:lnTo>
                  <a:pt x="9072" y="3370108"/>
                </a:lnTo>
                <a:lnTo>
                  <a:pt x="0" y="3369340"/>
                </a:lnTo>
                <a:close/>
              </a:path>
            </a:pathLst>
          </a:custGeom>
        </p:spPr>
      </p:pic>
      <p:grpSp>
        <p:nvGrpSpPr>
          <p:cNvPr id="112" name="Group 111">
            <a:extLst>
              <a:ext uri="{FF2B5EF4-FFF2-40B4-BE49-F238E27FC236}">
                <a16:creationId xmlns:a16="http://schemas.microsoft.com/office/drawing/2014/main" id="{A50943B0-FDF7-4C2C-B784-9208C945A8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80" name="Freeform: Shape 79">
              <a:extLst>
                <a:ext uri="{FF2B5EF4-FFF2-40B4-BE49-F238E27FC236}">
                  <a16:creationId xmlns:a16="http://schemas.microsoft.com/office/drawing/2014/main" id="{64021FAB-FA86-49DE-8FC9-585A1729B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3" name="Freeform: Shape 80">
              <a:extLst>
                <a:ext uri="{FF2B5EF4-FFF2-40B4-BE49-F238E27FC236}">
                  <a16:creationId xmlns:a16="http://schemas.microsoft.com/office/drawing/2014/main" id="{7B58B526-A432-4EB5-AA70-2BB897257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6">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5" name="Title 7">
            <a:extLst>
              <a:ext uri="{FF2B5EF4-FFF2-40B4-BE49-F238E27FC236}">
                <a16:creationId xmlns:a16="http://schemas.microsoft.com/office/drawing/2014/main" id="{2B4E07CC-7101-F9BD-F39B-CB4B15468301}"/>
              </a:ext>
            </a:extLst>
          </p:cNvPr>
          <p:cNvSpPr txBox="1">
            <a:spLocks/>
          </p:cNvSpPr>
          <p:nvPr/>
        </p:nvSpPr>
        <p:spPr>
          <a:xfrm>
            <a:off x="5664201" y="4766267"/>
            <a:ext cx="5692774" cy="1077411"/>
          </a:xfrm>
          <a:prstGeom prst="rect">
            <a:avLst/>
          </a:prstGeom>
        </p:spPr>
        <p:txBody>
          <a:bodyPr vert="horz" lIns="91440" tIns="45720" rIns="91440" bIns="45720" rtlCol="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228600">
              <a:spcAft>
                <a:spcPts val="600"/>
              </a:spcAft>
              <a:buFont typeface="Arial" panose="020B0604020202020204" pitchFamily="34" charset="0"/>
              <a:buChar char="•"/>
            </a:pPr>
            <a:r>
              <a:rPr lang="en-US" sz="1400" dirty="0">
                <a:solidFill>
                  <a:schemeClr val="bg1">
                    <a:alpha val="80000"/>
                  </a:schemeClr>
                </a:solidFill>
                <a:latin typeface="+mn-lt"/>
                <a:ea typeface="+mn-ea"/>
                <a:cs typeface="+mn-cs"/>
              </a:rPr>
              <a:t>Scalable</a:t>
            </a:r>
          </a:p>
          <a:p>
            <a:pPr indent="-228600">
              <a:spcAft>
                <a:spcPts val="600"/>
              </a:spcAft>
              <a:buFont typeface="Arial" panose="020B0604020202020204" pitchFamily="34" charset="0"/>
              <a:buChar char="•"/>
            </a:pPr>
            <a:r>
              <a:rPr lang="en-US" sz="1400" dirty="0">
                <a:solidFill>
                  <a:schemeClr val="bg1">
                    <a:alpha val="80000"/>
                  </a:schemeClr>
                </a:solidFill>
                <a:latin typeface="+mn-lt"/>
                <a:ea typeface="+mn-ea"/>
                <a:cs typeface="+mn-cs"/>
              </a:rPr>
              <a:t>Privacy protected: Local hosted LLM</a:t>
            </a:r>
          </a:p>
          <a:p>
            <a:pPr indent="-228600">
              <a:spcAft>
                <a:spcPts val="600"/>
              </a:spcAft>
              <a:buFont typeface="Arial" panose="020B0604020202020204" pitchFamily="34" charset="0"/>
              <a:buChar char="•"/>
            </a:pPr>
            <a:r>
              <a:rPr lang="en-US" sz="1400" dirty="0">
                <a:solidFill>
                  <a:schemeClr val="bg1">
                    <a:alpha val="80000"/>
                  </a:schemeClr>
                </a:solidFill>
                <a:latin typeface="+mn-lt"/>
                <a:ea typeface="+mn-ea"/>
                <a:cs typeface="+mn-cs"/>
              </a:rPr>
              <a:t>Role based Control: Access based on need to know</a:t>
            </a:r>
          </a:p>
          <a:p>
            <a:pPr indent="-228600">
              <a:spcAft>
                <a:spcPts val="600"/>
              </a:spcAft>
              <a:buFont typeface="Arial" panose="020B0604020202020204" pitchFamily="34" charset="0"/>
              <a:buChar char="•"/>
            </a:pPr>
            <a:r>
              <a:rPr lang="en-US" sz="1400" dirty="0">
                <a:solidFill>
                  <a:schemeClr val="bg1">
                    <a:alpha val="80000"/>
                  </a:schemeClr>
                </a:solidFill>
                <a:latin typeface="+mn-lt"/>
                <a:ea typeface="+mn-ea"/>
                <a:cs typeface="+mn-cs"/>
              </a:rPr>
              <a:t>Least privilege Authentication: No human error</a:t>
            </a:r>
          </a:p>
          <a:p>
            <a:pPr indent="-228600">
              <a:spcAft>
                <a:spcPts val="600"/>
              </a:spcAft>
              <a:buFont typeface="Arial" panose="020B0604020202020204" pitchFamily="34" charset="0"/>
              <a:buChar char="•"/>
            </a:pPr>
            <a:r>
              <a:rPr lang="en-US" sz="1400" dirty="0">
                <a:solidFill>
                  <a:schemeClr val="bg1">
                    <a:alpha val="80000"/>
                  </a:schemeClr>
                </a:solidFill>
                <a:latin typeface="+mn-lt"/>
                <a:ea typeface="+mn-ea"/>
                <a:cs typeface="+mn-cs"/>
              </a:rPr>
              <a:t>Secret Manager: No accidental leak of data</a:t>
            </a:r>
          </a:p>
          <a:p>
            <a:pPr indent="-228600">
              <a:spcAft>
                <a:spcPts val="600"/>
              </a:spcAft>
              <a:buFont typeface="Arial" panose="020B0604020202020204" pitchFamily="34" charset="0"/>
              <a:buChar char="•"/>
            </a:pPr>
            <a:endParaRPr lang="en-US" sz="1400" dirty="0">
              <a:solidFill>
                <a:schemeClr val="bg1">
                  <a:alpha val="80000"/>
                </a:schemeClr>
              </a:solidFill>
              <a:latin typeface="+mn-lt"/>
              <a:ea typeface="+mn-ea"/>
              <a:cs typeface="+mn-cs"/>
            </a:endParaRPr>
          </a:p>
        </p:txBody>
      </p:sp>
    </p:spTree>
    <p:extLst>
      <p:ext uri="{BB962C8B-B14F-4D97-AF65-F5344CB8AC3E}">
        <p14:creationId xmlns:p14="http://schemas.microsoft.com/office/powerpoint/2010/main" val="40670041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5"/>
                                        </p:tgtEl>
                                        <p:attrNameLst>
                                          <p:attrName>style.visibility</p:attrName>
                                        </p:attrNameLst>
                                      </p:cBhvr>
                                      <p:to>
                                        <p:strVal val="visible"/>
                                      </p:to>
                                    </p:set>
                                    <p:animEffect transition="in" filter="fade">
                                      <p:cBhvr>
                                        <p:cTn id="10"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6A571-3ED9-B7AB-F45B-F3E5E9AD61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3795C3-740E-1124-1CF9-5A0B40283155}"/>
              </a:ext>
            </a:extLst>
          </p:cNvPr>
          <p:cNvSpPr/>
          <p:nvPr/>
        </p:nvSpPr>
        <p:spPr>
          <a:xfrm>
            <a:off x="0" y="0"/>
            <a:ext cx="12192000" cy="6891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ct val="0"/>
              </a:spcBef>
              <a:spcAft>
                <a:spcPts val="600"/>
              </a:spcAft>
            </a:pPr>
            <a:r>
              <a:rPr lang="en-US" dirty="0">
                <a:solidFill>
                  <a:srgbClr val="FFFFFF"/>
                </a:solidFill>
              </a:rPr>
              <a:t>Risk-Mitigation</a:t>
            </a:r>
          </a:p>
        </p:txBody>
      </p:sp>
      <p:graphicFrame>
        <p:nvGraphicFramePr>
          <p:cNvPr id="2" name="Table 1">
            <a:extLst>
              <a:ext uri="{FF2B5EF4-FFF2-40B4-BE49-F238E27FC236}">
                <a16:creationId xmlns:a16="http://schemas.microsoft.com/office/drawing/2014/main" id="{519E536C-9AB1-8EA3-3C0B-E13740985392}"/>
              </a:ext>
            </a:extLst>
          </p:cNvPr>
          <p:cNvGraphicFramePr>
            <a:graphicFrameLocks noGrp="1"/>
          </p:cNvGraphicFramePr>
          <p:nvPr>
            <p:extLst>
              <p:ext uri="{D42A27DB-BD31-4B8C-83A1-F6EECF244321}">
                <p14:modId xmlns:p14="http://schemas.microsoft.com/office/powerpoint/2010/main" val="1954536129"/>
              </p:ext>
            </p:extLst>
          </p:nvPr>
        </p:nvGraphicFramePr>
        <p:xfrm>
          <a:off x="6729911" y="1790697"/>
          <a:ext cx="5138532" cy="2926080"/>
        </p:xfrm>
        <a:graphic>
          <a:graphicData uri="http://schemas.openxmlformats.org/drawingml/2006/table">
            <a:tbl>
              <a:tblPr/>
              <a:tblGrid>
                <a:gridCol w="2569266">
                  <a:extLst>
                    <a:ext uri="{9D8B030D-6E8A-4147-A177-3AD203B41FA5}">
                      <a16:colId xmlns:a16="http://schemas.microsoft.com/office/drawing/2014/main" val="4212741823"/>
                    </a:ext>
                  </a:extLst>
                </a:gridCol>
                <a:gridCol w="2569266">
                  <a:extLst>
                    <a:ext uri="{9D8B030D-6E8A-4147-A177-3AD203B41FA5}">
                      <a16:colId xmlns:a16="http://schemas.microsoft.com/office/drawing/2014/main" val="1509469821"/>
                    </a:ext>
                  </a:extLst>
                </a:gridCol>
              </a:tblGrid>
              <a:tr h="0">
                <a:tc>
                  <a:txBody>
                    <a:bodyPr/>
                    <a:lstStyle/>
                    <a:p>
                      <a:pPr algn="ctr">
                        <a:buNone/>
                      </a:pPr>
                      <a:r>
                        <a:rPr lang="en-US" b="1" dirty="0">
                          <a:solidFill>
                            <a:schemeClr val="bg1"/>
                          </a:solidFill>
                        </a:rPr>
                        <a:t>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buNone/>
                      </a:pPr>
                      <a:r>
                        <a:rPr lang="en-US" b="1" dirty="0">
                          <a:solidFill>
                            <a:schemeClr val="bg1"/>
                          </a:solidFill>
                        </a:rPr>
                        <a:t>Your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847239507"/>
                  </a:ext>
                </a:extLst>
              </a:tr>
              <a:tr h="0">
                <a:tc>
                  <a:txBody>
                    <a:bodyPr/>
                    <a:lstStyle/>
                    <a:p>
                      <a:pPr algn="ctr">
                        <a:buNone/>
                      </a:pPr>
                      <a:r>
                        <a:rPr lang="en-US" dirty="0"/>
                        <a:t>Hallucination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Template + Analytical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0533011"/>
                  </a:ext>
                </a:extLst>
              </a:tr>
              <a:tr h="0">
                <a:tc>
                  <a:txBody>
                    <a:bodyPr/>
                    <a:lstStyle/>
                    <a:p>
                      <a:pPr algn="ctr">
                        <a:buNone/>
                      </a:pPr>
                      <a:r>
                        <a:rPr lang="en-US" dirty="0"/>
                        <a:t>Inconsistency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Dependency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6099872"/>
                  </a:ext>
                </a:extLst>
              </a:tr>
              <a:tr h="0">
                <a:tc>
                  <a:txBody>
                    <a:bodyPr/>
                    <a:lstStyle/>
                    <a:p>
                      <a:pPr algn="ctr">
                        <a:buNone/>
                      </a:pPr>
                      <a:r>
                        <a:rPr lang="en-US" dirty="0"/>
                        <a:t>Traceability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Knowledge Graph/Persistence state/validation certificate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6559823"/>
                  </a:ext>
                </a:extLst>
              </a:tr>
              <a:tr h="0">
                <a:tc>
                  <a:txBody>
                    <a:bodyPr/>
                    <a:lstStyle/>
                    <a:p>
                      <a:pPr algn="ctr">
                        <a:buNone/>
                      </a:pPr>
                      <a:r>
                        <a:rPr lang="en-US" dirty="0"/>
                        <a:t>Compliance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Validator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6094126"/>
                  </a:ext>
                </a:extLst>
              </a:tr>
            </a:tbl>
          </a:graphicData>
        </a:graphic>
      </p:graphicFrame>
      <p:graphicFrame>
        <p:nvGraphicFramePr>
          <p:cNvPr id="3" name="Table 2">
            <a:extLst>
              <a:ext uri="{FF2B5EF4-FFF2-40B4-BE49-F238E27FC236}">
                <a16:creationId xmlns:a16="http://schemas.microsoft.com/office/drawing/2014/main" id="{92A28545-BBC7-7C87-CB87-5458AAE3D677}"/>
              </a:ext>
            </a:extLst>
          </p:cNvPr>
          <p:cNvGraphicFramePr>
            <a:graphicFrameLocks noGrp="1"/>
          </p:cNvGraphicFramePr>
          <p:nvPr>
            <p:extLst>
              <p:ext uri="{D42A27DB-BD31-4B8C-83A1-F6EECF244321}">
                <p14:modId xmlns:p14="http://schemas.microsoft.com/office/powerpoint/2010/main" val="688494871"/>
              </p:ext>
            </p:extLst>
          </p:nvPr>
        </p:nvGraphicFramePr>
        <p:xfrm>
          <a:off x="427900" y="1470657"/>
          <a:ext cx="5923672" cy="3566160"/>
        </p:xfrm>
        <a:graphic>
          <a:graphicData uri="http://schemas.openxmlformats.org/drawingml/2006/table">
            <a:tbl>
              <a:tblPr/>
              <a:tblGrid>
                <a:gridCol w="2961836">
                  <a:extLst>
                    <a:ext uri="{9D8B030D-6E8A-4147-A177-3AD203B41FA5}">
                      <a16:colId xmlns:a16="http://schemas.microsoft.com/office/drawing/2014/main" val="2501005605"/>
                    </a:ext>
                  </a:extLst>
                </a:gridCol>
                <a:gridCol w="2961836">
                  <a:extLst>
                    <a:ext uri="{9D8B030D-6E8A-4147-A177-3AD203B41FA5}">
                      <a16:colId xmlns:a16="http://schemas.microsoft.com/office/drawing/2014/main" val="1010499931"/>
                    </a:ext>
                  </a:extLst>
                </a:gridCol>
              </a:tblGrid>
              <a:tr h="338474">
                <a:tc>
                  <a:txBody>
                    <a:bodyPr/>
                    <a:lstStyle/>
                    <a:p>
                      <a:pPr>
                        <a:buNone/>
                      </a:pPr>
                      <a:r>
                        <a:rPr lang="en-US" b="1">
                          <a:effectLst/>
                        </a:rPr>
                        <a:t>Traditional Authoring</a:t>
                      </a:r>
                      <a:endParaRPr lang="en-US">
                        <a:effectLst/>
                      </a:endParaRP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buNone/>
                      </a:pPr>
                      <a:r>
                        <a:rPr lang="en-US" b="1" dirty="0">
                          <a:effectLst/>
                        </a:rPr>
                        <a:t>AI‑Driven Authoring</a:t>
                      </a:r>
                      <a:endParaRPr lang="en-US" dirty="0">
                        <a:effectLst/>
                      </a:endParaRP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541591652"/>
                  </a:ext>
                </a:extLst>
              </a:tr>
              <a:tr h="338474">
                <a:tc>
                  <a:txBody>
                    <a:bodyPr/>
                    <a:lstStyle/>
                    <a:p>
                      <a:pPr>
                        <a:buNone/>
                      </a:pPr>
                      <a:r>
                        <a:rPr lang="en-US">
                          <a:effectLst/>
                        </a:rPr>
                        <a:t>Manual drafting across documents</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tc>
                  <a:txBody>
                    <a:bodyPr/>
                    <a:lstStyle/>
                    <a:p>
                      <a:pPr>
                        <a:buNone/>
                      </a:pPr>
                      <a:r>
                        <a:rPr lang="en-US">
                          <a:effectLst/>
                        </a:rPr>
                        <a:t>AI‑assisted, guided content generation</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508678754"/>
                  </a:ext>
                </a:extLst>
              </a:tr>
              <a:tr h="338474">
                <a:tc>
                  <a:txBody>
                    <a:bodyPr/>
                    <a:lstStyle/>
                    <a:p>
                      <a:pPr>
                        <a:buNone/>
                      </a:pPr>
                      <a:r>
                        <a:rPr lang="en-US">
                          <a:effectLst/>
                        </a:rPr>
                        <a:t>Repetitive copy‑paste</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tc>
                  <a:txBody>
                    <a:bodyPr/>
                    <a:lstStyle/>
                    <a:p>
                      <a:pPr>
                        <a:buNone/>
                      </a:pPr>
                      <a:r>
                        <a:rPr lang="en-US">
                          <a:effectLst/>
                        </a:rPr>
                        <a:t>CSR as reusable evidence source</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64502400"/>
                  </a:ext>
                </a:extLst>
              </a:tr>
              <a:tr h="338474">
                <a:tc>
                  <a:txBody>
                    <a:bodyPr/>
                    <a:lstStyle/>
                    <a:p>
                      <a:pPr>
                        <a:buNone/>
                      </a:pPr>
                      <a:r>
                        <a:rPr lang="en-US">
                          <a:effectLst/>
                        </a:rPr>
                        <a:t>High inconsistency risk</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tc>
                  <a:txBody>
                    <a:bodyPr/>
                    <a:lstStyle/>
                    <a:p>
                      <a:pPr>
                        <a:buNone/>
                      </a:pPr>
                      <a:r>
                        <a:rPr lang="en-US" dirty="0">
                          <a:effectLst/>
                        </a:rPr>
                        <a:t>Built‑in data &amp; semantic consistency</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028482933"/>
                  </a:ext>
                </a:extLst>
              </a:tr>
              <a:tr h="338474">
                <a:tc>
                  <a:txBody>
                    <a:bodyPr/>
                    <a:lstStyle/>
                    <a:p>
                      <a:pPr>
                        <a:buNone/>
                      </a:pPr>
                      <a:r>
                        <a:rPr lang="en-US">
                          <a:effectLst/>
                        </a:rPr>
                        <a:t>Limited traceability</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tc>
                  <a:txBody>
                    <a:bodyPr/>
                    <a:lstStyle/>
                    <a:p>
                      <a:pPr>
                        <a:buNone/>
                      </a:pPr>
                      <a:r>
                        <a:rPr lang="en-US">
                          <a:effectLst/>
                        </a:rPr>
                        <a:t>End‑to‑end traceability by design</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86906642"/>
                  </a:ext>
                </a:extLst>
              </a:tr>
              <a:tr h="338474">
                <a:tc>
                  <a:txBody>
                    <a:bodyPr/>
                    <a:lstStyle/>
                    <a:p>
                      <a:pPr>
                        <a:buNone/>
                      </a:pPr>
                      <a:r>
                        <a:rPr lang="en-US">
                          <a:effectLst/>
                        </a:rPr>
                        <a:t>High review burden</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tc>
                  <a:txBody>
                    <a:bodyPr/>
                    <a:lstStyle/>
                    <a:p>
                      <a:pPr>
                        <a:buNone/>
                      </a:pPr>
                      <a:r>
                        <a:rPr lang="en-US" dirty="0">
                          <a:effectLst/>
                        </a:rPr>
                        <a:t>Faster review with aligned content</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22099237"/>
                  </a:ext>
                </a:extLst>
              </a:tr>
            </a:tbl>
          </a:graphicData>
        </a:graphic>
      </p:graphicFrame>
    </p:spTree>
    <p:extLst>
      <p:ext uri="{BB962C8B-B14F-4D97-AF65-F5344CB8AC3E}">
        <p14:creationId xmlns:p14="http://schemas.microsoft.com/office/powerpoint/2010/main" val="2754851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12098</TotalTime>
  <Words>274</Words>
  <Application>Microsoft Macintosh PowerPoint</Application>
  <PresentationFormat>Widescreen</PresentationFormat>
  <Paragraphs>45</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Example: How risk is minimised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Mritunjay Kumar</dc:creator>
  <cp:lastModifiedBy>Mritunjay Kumar</cp:lastModifiedBy>
  <cp:revision>6</cp:revision>
  <dcterms:created xsi:type="dcterms:W3CDTF">2026-04-10T12:54:55Z</dcterms:created>
  <dcterms:modified xsi:type="dcterms:W3CDTF">2026-04-21T17:42:43Z</dcterms:modified>
</cp:coreProperties>
</file>