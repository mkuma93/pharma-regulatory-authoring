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8" r:id="rId2"/>
    <p:sldId id="256" r:id="rId3"/>
    <p:sldId id="263" r:id="rId4"/>
    <p:sldId id="259" r:id="rId5"/>
    <p:sldId id="262"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217"/>
    <p:restoredTop sz="94681"/>
  </p:normalViewPr>
  <p:slideViewPr>
    <p:cSldViewPr snapToGrid="0">
      <p:cViewPr varScale="1">
        <p:scale>
          <a:sx n="91" d="100"/>
          <a:sy n="91" d="100"/>
        </p:scale>
        <p:origin x="216" y="8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C829DC-F09D-0E41-88E8-27BFDBAD7D69}" type="datetimeFigureOut">
              <a:rPr lang="en-US" smtClean="0"/>
              <a:t>4/13/26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121CAA3-D09C-A341-8E15-4CCDBEA8C137}" type="slidenum">
              <a:rPr lang="en-US" smtClean="0"/>
              <a:t>‹#›</a:t>
            </a:fld>
            <a:endParaRPr lang="en-US"/>
          </a:p>
        </p:txBody>
      </p:sp>
    </p:spTree>
    <p:extLst>
      <p:ext uri="{BB962C8B-B14F-4D97-AF65-F5344CB8AC3E}">
        <p14:creationId xmlns:p14="http://schemas.microsoft.com/office/powerpoint/2010/main" val="3873670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Image source: Microsoft 365 content library
AI-driven CTD structure scaffolding enables precise methodology refinement. Compliance officer approval ensures CTD structures are copied to the program level for regulatory alignment. Template generation and mapping to CTD modules involve collaboration among Data-Analyst agents, module-wise personnel, validators, and content writers, with global state management and state persistence for robust workflow control.</a:t>
            </a:r>
          </a:p>
        </p:txBody>
      </p:sp>
      <p:sp>
        <p:nvSpPr>
          <p:cNvPr id="4" name="Slide Number Placeholder 3"/>
          <p:cNvSpPr>
            <a:spLocks noGrp="1"/>
          </p:cNvSpPr>
          <p:nvPr>
            <p:ph type="sldNum" sz="quarter" idx="5"/>
          </p:nvPr>
        </p:nvSpPr>
        <p:spPr/>
        <p:txBody>
          <a:bodyPr/>
          <a:lstStyle/>
          <a:p>
            <a:fld id="{7121CAA3-D09C-A341-8E15-4CCDBEA8C137}" type="slidenum">
              <a:rPr lang="en-US" smtClean="0"/>
              <a:t>4</a:t>
            </a:fld>
            <a:endParaRPr lang="en-US"/>
          </a:p>
        </p:txBody>
      </p:sp>
    </p:spTree>
    <p:extLst>
      <p:ext uri="{BB962C8B-B14F-4D97-AF65-F5344CB8AC3E}">
        <p14:creationId xmlns:p14="http://schemas.microsoft.com/office/powerpoint/2010/main" val="8891235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DEC798-0CF8-F1FC-1826-DAD10BFD2F2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FF40891-B06C-C53D-FAF5-AC85F7CA2E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14BCEFA-D9B0-07D7-D64F-BA5C8AB04E85}"/>
              </a:ext>
            </a:extLst>
          </p:cNvPr>
          <p:cNvSpPr>
            <a:spLocks noGrp="1"/>
          </p:cNvSpPr>
          <p:nvPr>
            <p:ph type="dt" sz="half" idx="10"/>
          </p:nvPr>
        </p:nvSpPr>
        <p:spPr/>
        <p:txBody>
          <a:bodyPr/>
          <a:lstStyle/>
          <a:p>
            <a:fld id="{339B7B85-C979-D445-B913-DAEE4AF6E7F5}" type="datetimeFigureOut">
              <a:rPr lang="en-US" smtClean="0"/>
              <a:t>4/13/26</a:t>
            </a:fld>
            <a:endParaRPr lang="en-US"/>
          </a:p>
        </p:txBody>
      </p:sp>
      <p:sp>
        <p:nvSpPr>
          <p:cNvPr id="5" name="Footer Placeholder 4">
            <a:extLst>
              <a:ext uri="{FF2B5EF4-FFF2-40B4-BE49-F238E27FC236}">
                <a16:creationId xmlns:a16="http://schemas.microsoft.com/office/drawing/2014/main" id="{DFB32CE1-6039-96CC-CA19-4D19D7B1EC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68A5BA-5AFC-3ACE-C65D-C39BAEBBEB65}"/>
              </a:ext>
            </a:extLst>
          </p:cNvPr>
          <p:cNvSpPr>
            <a:spLocks noGrp="1"/>
          </p:cNvSpPr>
          <p:nvPr>
            <p:ph type="sldNum" sz="quarter" idx="12"/>
          </p:nvPr>
        </p:nvSpPr>
        <p:spPr/>
        <p:txBody>
          <a:bodyPr/>
          <a:lstStyle/>
          <a:p>
            <a:fld id="{CA8C48D7-CD17-4544-988F-0233C32EDF71}" type="slidenum">
              <a:rPr lang="en-US" smtClean="0"/>
              <a:t>‹#›</a:t>
            </a:fld>
            <a:endParaRPr lang="en-US"/>
          </a:p>
        </p:txBody>
      </p:sp>
    </p:spTree>
    <p:extLst>
      <p:ext uri="{BB962C8B-B14F-4D97-AF65-F5344CB8AC3E}">
        <p14:creationId xmlns:p14="http://schemas.microsoft.com/office/powerpoint/2010/main" val="26252910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6768A-80DA-7465-8C7A-C115A09C01F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80374A-E881-8254-0C80-6CA7B946C43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E3E8E6-7F56-9267-6AC2-767E4EB16FA6}"/>
              </a:ext>
            </a:extLst>
          </p:cNvPr>
          <p:cNvSpPr>
            <a:spLocks noGrp="1"/>
          </p:cNvSpPr>
          <p:nvPr>
            <p:ph type="dt" sz="half" idx="10"/>
          </p:nvPr>
        </p:nvSpPr>
        <p:spPr/>
        <p:txBody>
          <a:bodyPr/>
          <a:lstStyle/>
          <a:p>
            <a:fld id="{339B7B85-C979-D445-B913-DAEE4AF6E7F5}" type="datetimeFigureOut">
              <a:rPr lang="en-US" smtClean="0"/>
              <a:t>4/13/26</a:t>
            </a:fld>
            <a:endParaRPr lang="en-US"/>
          </a:p>
        </p:txBody>
      </p:sp>
      <p:sp>
        <p:nvSpPr>
          <p:cNvPr id="5" name="Footer Placeholder 4">
            <a:extLst>
              <a:ext uri="{FF2B5EF4-FFF2-40B4-BE49-F238E27FC236}">
                <a16:creationId xmlns:a16="http://schemas.microsoft.com/office/drawing/2014/main" id="{D9E71229-A9DC-6459-9E76-3EB6320622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0C89D6-8472-F11A-82D1-118F23705CF0}"/>
              </a:ext>
            </a:extLst>
          </p:cNvPr>
          <p:cNvSpPr>
            <a:spLocks noGrp="1"/>
          </p:cNvSpPr>
          <p:nvPr>
            <p:ph type="sldNum" sz="quarter" idx="12"/>
          </p:nvPr>
        </p:nvSpPr>
        <p:spPr/>
        <p:txBody>
          <a:bodyPr/>
          <a:lstStyle/>
          <a:p>
            <a:fld id="{CA8C48D7-CD17-4544-988F-0233C32EDF71}" type="slidenum">
              <a:rPr lang="en-US" smtClean="0"/>
              <a:t>‹#›</a:t>
            </a:fld>
            <a:endParaRPr lang="en-US"/>
          </a:p>
        </p:txBody>
      </p:sp>
    </p:spTree>
    <p:extLst>
      <p:ext uri="{BB962C8B-B14F-4D97-AF65-F5344CB8AC3E}">
        <p14:creationId xmlns:p14="http://schemas.microsoft.com/office/powerpoint/2010/main" val="22548307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45407-5A8C-FD03-92DA-D0819E83B56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AD2B77D-1D63-C1D2-095A-47D8799B2E7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AC477-9746-FF8D-97CC-839F69CC9AE8}"/>
              </a:ext>
            </a:extLst>
          </p:cNvPr>
          <p:cNvSpPr>
            <a:spLocks noGrp="1"/>
          </p:cNvSpPr>
          <p:nvPr>
            <p:ph type="dt" sz="half" idx="10"/>
          </p:nvPr>
        </p:nvSpPr>
        <p:spPr/>
        <p:txBody>
          <a:bodyPr/>
          <a:lstStyle/>
          <a:p>
            <a:fld id="{339B7B85-C979-D445-B913-DAEE4AF6E7F5}" type="datetimeFigureOut">
              <a:rPr lang="en-US" smtClean="0"/>
              <a:t>4/13/26</a:t>
            </a:fld>
            <a:endParaRPr lang="en-US"/>
          </a:p>
        </p:txBody>
      </p:sp>
      <p:sp>
        <p:nvSpPr>
          <p:cNvPr id="5" name="Footer Placeholder 4">
            <a:extLst>
              <a:ext uri="{FF2B5EF4-FFF2-40B4-BE49-F238E27FC236}">
                <a16:creationId xmlns:a16="http://schemas.microsoft.com/office/drawing/2014/main" id="{36A27B8A-8A7E-8F9C-87BB-8635B47F92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F126E27-5C06-2B5B-8BC9-2ED7D76F44CE}"/>
              </a:ext>
            </a:extLst>
          </p:cNvPr>
          <p:cNvSpPr>
            <a:spLocks noGrp="1"/>
          </p:cNvSpPr>
          <p:nvPr>
            <p:ph type="sldNum" sz="quarter" idx="12"/>
          </p:nvPr>
        </p:nvSpPr>
        <p:spPr/>
        <p:txBody>
          <a:bodyPr/>
          <a:lstStyle/>
          <a:p>
            <a:fld id="{CA8C48D7-CD17-4544-988F-0233C32EDF71}" type="slidenum">
              <a:rPr lang="en-US" smtClean="0"/>
              <a:t>‹#›</a:t>
            </a:fld>
            <a:endParaRPr lang="en-US"/>
          </a:p>
        </p:txBody>
      </p:sp>
    </p:spTree>
    <p:extLst>
      <p:ext uri="{BB962C8B-B14F-4D97-AF65-F5344CB8AC3E}">
        <p14:creationId xmlns:p14="http://schemas.microsoft.com/office/powerpoint/2010/main" val="23946528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DD8ACA-5C17-4B50-6075-3CCBE9A37E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DCF27D6-CD80-F992-A9E2-AC688DAE249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1716EBD-90AC-1FB4-7B8D-145D47EFD21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AD84A68-01AE-C3E1-14B0-3471E40682C9}"/>
              </a:ext>
            </a:extLst>
          </p:cNvPr>
          <p:cNvSpPr>
            <a:spLocks noGrp="1"/>
          </p:cNvSpPr>
          <p:nvPr>
            <p:ph type="dt" sz="half" idx="10"/>
          </p:nvPr>
        </p:nvSpPr>
        <p:spPr/>
        <p:txBody>
          <a:bodyPr/>
          <a:lstStyle/>
          <a:p>
            <a:fld id="{339B7B85-C979-D445-B913-DAEE4AF6E7F5}" type="datetimeFigureOut">
              <a:rPr lang="en-US" smtClean="0"/>
              <a:t>4/13/26</a:t>
            </a:fld>
            <a:endParaRPr lang="en-US"/>
          </a:p>
        </p:txBody>
      </p:sp>
      <p:sp>
        <p:nvSpPr>
          <p:cNvPr id="6" name="Footer Placeholder 5">
            <a:extLst>
              <a:ext uri="{FF2B5EF4-FFF2-40B4-BE49-F238E27FC236}">
                <a16:creationId xmlns:a16="http://schemas.microsoft.com/office/drawing/2014/main" id="{1B3E93E9-B410-9B22-431D-B9EE9ABBB1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8DD736-1422-ECB0-586B-113C9AFEACA7}"/>
              </a:ext>
            </a:extLst>
          </p:cNvPr>
          <p:cNvSpPr>
            <a:spLocks noGrp="1"/>
          </p:cNvSpPr>
          <p:nvPr>
            <p:ph type="sldNum" sz="quarter" idx="12"/>
          </p:nvPr>
        </p:nvSpPr>
        <p:spPr/>
        <p:txBody>
          <a:bodyPr/>
          <a:lstStyle/>
          <a:p>
            <a:fld id="{CA8C48D7-CD17-4544-988F-0233C32EDF71}" type="slidenum">
              <a:rPr lang="en-US" smtClean="0"/>
              <a:t>‹#›</a:t>
            </a:fld>
            <a:endParaRPr lang="en-US"/>
          </a:p>
        </p:txBody>
      </p:sp>
    </p:spTree>
    <p:extLst>
      <p:ext uri="{BB962C8B-B14F-4D97-AF65-F5344CB8AC3E}">
        <p14:creationId xmlns:p14="http://schemas.microsoft.com/office/powerpoint/2010/main" val="736677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17294-5112-513C-07AD-216C63B4677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261EA14-4F10-17B1-54B5-4ADA57C2BC7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5B25FE1-0387-7FBF-755C-558FDFBC5B0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AE0D959-1FCB-FA78-5456-0C12593ECBF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C69951D-1808-496D-DA18-957A7CBBABF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7502B81-3F6A-2416-D52B-D8A1C02A6C12}"/>
              </a:ext>
            </a:extLst>
          </p:cNvPr>
          <p:cNvSpPr>
            <a:spLocks noGrp="1"/>
          </p:cNvSpPr>
          <p:nvPr>
            <p:ph type="dt" sz="half" idx="10"/>
          </p:nvPr>
        </p:nvSpPr>
        <p:spPr/>
        <p:txBody>
          <a:bodyPr/>
          <a:lstStyle/>
          <a:p>
            <a:fld id="{339B7B85-C979-D445-B913-DAEE4AF6E7F5}" type="datetimeFigureOut">
              <a:rPr lang="en-US" smtClean="0"/>
              <a:t>4/13/26</a:t>
            </a:fld>
            <a:endParaRPr lang="en-US"/>
          </a:p>
        </p:txBody>
      </p:sp>
      <p:sp>
        <p:nvSpPr>
          <p:cNvPr id="8" name="Footer Placeholder 7">
            <a:extLst>
              <a:ext uri="{FF2B5EF4-FFF2-40B4-BE49-F238E27FC236}">
                <a16:creationId xmlns:a16="http://schemas.microsoft.com/office/drawing/2014/main" id="{7D30415E-63BA-4653-6A14-6FAC835B04A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0E6AD14-4127-A68E-ADC2-474175B80950}"/>
              </a:ext>
            </a:extLst>
          </p:cNvPr>
          <p:cNvSpPr>
            <a:spLocks noGrp="1"/>
          </p:cNvSpPr>
          <p:nvPr>
            <p:ph type="sldNum" sz="quarter" idx="12"/>
          </p:nvPr>
        </p:nvSpPr>
        <p:spPr/>
        <p:txBody>
          <a:bodyPr/>
          <a:lstStyle/>
          <a:p>
            <a:fld id="{CA8C48D7-CD17-4544-988F-0233C32EDF71}" type="slidenum">
              <a:rPr lang="en-US" smtClean="0"/>
              <a:t>‹#›</a:t>
            </a:fld>
            <a:endParaRPr lang="en-US"/>
          </a:p>
        </p:txBody>
      </p:sp>
    </p:spTree>
    <p:extLst>
      <p:ext uri="{BB962C8B-B14F-4D97-AF65-F5344CB8AC3E}">
        <p14:creationId xmlns:p14="http://schemas.microsoft.com/office/powerpoint/2010/main" val="542798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6D163-14E9-27CD-9CA6-15A4FFDEAAD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7B0DF0D-EB19-E9EA-3F51-DDFBAA08BF3F}"/>
              </a:ext>
            </a:extLst>
          </p:cNvPr>
          <p:cNvSpPr>
            <a:spLocks noGrp="1"/>
          </p:cNvSpPr>
          <p:nvPr>
            <p:ph type="dt" sz="half" idx="10"/>
          </p:nvPr>
        </p:nvSpPr>
        <p:spPr/>
        <p:txBody>
          <a:bodyPr/>
          <a:lstStyle/>
          <a:p>
            <a:fld id="{339B7B85-C979-D445-B913-DAEE4AF6E7F5}" type="datetimeFigureOut">
              <a:rPr lang="en-US" smtClean="0"/>
              <a:t>4/13/26</a:t>
            </a:fld>
            <a:endParaRPr lang="en-US"/>
          </a:p>
        </p:txBody>
      </p:sp>
      <p:sp>
        <p:nvSpPr>
          <p:cNvPr id="4" name="Footer Placeholder 3">
            <a:extLst>
              <a:ext uri="{FF2B5EF4-FFF2-40B4-BE49-F238E27FC236}">
                <a16:creationId xmlns:a16="http://schemas.microsoft.com/office/drawing/2014/main" id="{DF75956C-8884-E0F7-B5B1-5B016CE284F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177611A-B6EA-155F-E078-D28E8407A06C}"/>
              </a:ext>
            </a:extLst>
          </p:cNvPr>
          <p:cNvSpPr>
            <a:spLocks noGrp="1"/>
          </p:cNvSpPr>
          <p:nvPr>
            <p:ph type="sldNum" sz="quarter" idx="12"/>
          </p:nvPr>
        </p:nvSpPr>
        <p:spPr/>
        <p:txBody>
          <a:bodyPr/>
          <a:lstStyle/>
          <a:p>
            <a:fld id="{CA8C48D7-CD17-4544-988F-0233C32EDF71}" type="slidenum">
              <a:rPr lang="en-US" smtClean="0"/>
              <a:t>‹#›</a:t>
            </a:fld>
            <a:endParaRPr lang="en-US"/>
          </a:p>
        </p:txBody>
      </p:sp>
    </p:spTree>
    <p:extLst>
      <p:ext uri="{BB962C8B-B14F-4D97-AF65-F5344CB8AC3E}">
        <p14:creationId xmlns:p14="http://schemas.microsoft.com/office/powerpoint/2010/main" val="11402498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499902-7749-9D45-6689-34AA59CF0EFC}"/>
              </a:ext>
            </a:extLst>
          </p:cNvPr>
          <p:cNvSpPr>
            <a:spLocks noGrp="1"/>
          </p:cNvSpPr>
          <p:nvPr>
            <p:ph type="dt" sz="half" idx="10"/>
          </p:nvPr>
        </p:nvSpPr>
        <p:spPr/>
        <p:txBody>
          <a:bodyPr/>
          <a:lstStyle/>
          <a:p>
            <a:fld id="{339B7B85-C979-D445-B913-DAEE4AF6E7F5}" type="datetimeFigureOut">
              <a:rPr lang="en-US" smtClean="0"/>
              <a:t>4/13/26</a:t>
            </a:fld>
            <a:endParaRPr lang="en-US"/>
          </a:p>
        </p:txBody>
      </p:sp>
      <p:sp>
        <p:nvSpPr>
          <p:cNvPr id="3" name="Footer Placeholder 2">
            <a:extLst>
              <a:ext uri="{FF2B5EF4-FFF2-40B4-BE49-F238E27FC236}">
                <a16:creationId xmlns:a16="http://schemas.microsoft.com/office/drawing/2014/main" id="{3A132025-6020-A50D-A851-7FC508F626D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8CAEFF4-4905-9A4B-B255-EC14FAD0DD45}"/>
              </a:ext>
            </a:extLst>
          </p:cNvPr>
          <p:cNvSpPr>
            <a:spLocks noGrp="1"/>
          </p:cNvSpPr>
          <p:nvPr>
            <p:ph type="sldNum" sz="quarter" idx="12"/>
          </p:nvPr>
        </p:nvSpPr>
        <p:spPr/>
        <p:txBody>
          <a:bodyPr/>
          <a:lstStyle/>
          <a:p>
            <a:fld id="{CA8C48D7-CD17-4544-988F-0233C32EDF71}" type="slidenum">
              <a:rPr lang="en-US" smtClean="0"/>
              <a:t>‹#›</a:t>
            </a:fld>
            <a:endParaRPr lang="en-US"/>
          </a:p>
        </p:txBody>
      </p:sp>
    </p:spTree>
    <p:extLst>
      <p:ext uri="{BB962C8B-B14F-4D97-AF65-F5344CB8AC3E}">
        <p14:creationId xmlns:p14="http://schemas.microsoft.com/office/powerpoint/2010/main" val="2728815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5C1E6C-99FB-3067-110B-AA9721FA78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ED3F247-B05E-63E5-BB45-FBC28D9EF27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FE93D3-AB7F-261C-6308-607DCE53AD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AE7187-2894-5088-775E-17C0B564DE72}"/>
              </a:ext>
            </a:extLst>
          </p:cNvPr>
          <p:cNvSpPr>
            <a:spLocks noGrp="1"/>
          </p:cNvSpPr>
          <p:nvPr>
            <p:ph type="dt" sz="half" idx="10"/>
          </p:nvPr>
        </p:nvSpPr>
        <p:spPr/>
        <p:txBody>
          <a:bodyPr/>
          <a:lstStyle/>
          <a:p>
            <a:fld id="{339B7B85-C979-D445-B913-DAEE4AF6E7F5}" type="datetimeFigureOut">
              <a:rPr lang="en-US" smtClean="0"/>
              <a:t>4/13/26</a:t>
            </a:fld>
            <a:endParaRPr lang="en-US"/>
          </a:p>
        </p:txBody>
      </p:sp>
      <p:sp>
        <p:nvSpPr>
          <p:cNvPr id="6" name="Footer Placeholder 5">
            <a:extLst>
              <a:ext uri="{FF2B5EF4-FFF2-40B4-BE49-F238E27FC236}">
                <a16:creationId xmlns:a16="http://schemas.microsoft.com/office/drawing/2014/main" id="{9FF7229B-D635-3385-BE81-644A1256347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3C8A5CB-EC36-1A1A-DEE9-E2EBD1A3883B}"/>
              </a:ext>
            </a:extLst>
          </p:cNvPr>
          <p:cNvSpPr>
            <a:spLocks noGrp="1"/>
          </p:cNvSpPr>
          <p:nvPr>
            <p:ph type="sldNum" sz="quarter" idx="12"/>
          </p:nvPr>
        </p:nvSpPr>
        <p:spPr/>
        <p:txBody>
          <a:bodyPr/>
          <a:lstStyle/>
          <a:p>
            <a:fld id="{CA8C48D7-CD17-4544-988F-0233C32EDF71}" type="slidenum">
              <a:rPr lang="en-US" smtClean="0"/>
              <a:t>‹#›</a:t>
            </a:fld>
            <a:endParaRPr lang="en-US"/>
          </a:p>
        </p:txBody>
      </p:sp>
    </p:spTree>
    <p:extLst>
      <p:ext uri="{BB962C8B-B14F-4D97-AF65-F5344CB8AC3E}">
        <p14:creationId xmlns:p14="http://schemas.microsoft.com/office/powerpoint/2010/main" val="39730263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4A330-D09E-4DBA-F248-BC64C5B713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E45BD56-772B-A8A9-A91B-87CE93AFA21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BCCD5C6-398C-8A35-81BF-C855F9E1C3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4A1628-54FC-4268-11C3-F10B75C55951}"/>
              </a:ext>
            </a:extLst>
          </p:cNvPr>
          <p:cNvSpPr>
            <a:spLocks noGrp="1"/>
          </p:cNvSpPr>
          <p:nvPr>
            <p:ph type="dt" sz="half" idx="10"/>
          </p:nvPr>
        </p:nvSpPr>
        <p:spPr/>
        <p:txBody>
          <a:bodyPr/>
          <a:lstStyle/>
          <a:p>
            <a:fld id="{339B7B85-C979-D445-B913-DAEE4AF6E7F5}" type="datetimeFigureOut">
              <a:rPr lang="en-US" smtClean="0"/>
              <a:t>4/13/26</a:t>
            </a:fld>
            <a:endParaRPr lang="en-US"/>
          </a:p>
        </p:txBody>
      </p:sp>
      <p:sp>
        <p:nvSpPr>
          <p:cNvPr id="6" name="Footer Placeholder 5">
            <a:extLst>
              <a:ext uri="{FF2B5EF4-FFF2-40B4-BE49-F238E27FC236}">
                <a16:creationId xmlns:a16="http://schemas.microsoft.com/office/drawing/2014/main" id="{839246D8-4051-5904-EA1F-DD8D47F5B7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BE4354D-8B3F-4F57-D97B-F0D99C6EC5AE}"/>
              </a:ext>
            </a:extLst>
          </p:cNvPr>
          <p:cNvSpPr>
            <a:spLocks noGrp="1"/>
          </p:cNvSpPr>
          <p:nvPr>
            <p:ph type="sldNum" sz="quarter" idx="12"/>
          </p:nvPr>
        </p:nvSpPr>
        <p:spPr/>
        <p:txBody>
          <a:bodyPr/>
          <a:lstStyle/>
          <a:p>
            <a:fld id="{CA8C48D7-CD17-4544-988F-0233C32EDF71}" type="slidenum">
              <a:rPr lang="en-US" smtClean="0"/>
              <a:t>‹#›</a:t>
            </a:fld>
            <a:endParaRPr lang="en-US"/>
          </a:p>
        </p:txBody>
      </p:sp>
    </p:spTree>
    <p:extLst>
      <p:ext uri="{BB962C8B-B14F-4D97-AF65-F5344CB8AC3E}">
        <p14:creationId xmlns:p14="http://schemas.microsoft.com/office/powerpoint/2010/main" val="35178737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F7AA18-92BE-6448-714B-EC4091FF4E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AC2059E-3FB6-AB3F-16FB-5BBD097267D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F288D0-F2C3-9488-ADBB-2F897F3C880A}"/>
              </a:ext>
            </a:extLst>
          </p:cNvPr>
          <p:cNvSpPr>
            <a:spLocks noGrp="1"/>
          </p:cNvSpPr>
          <p:nvPr>
            <p:ph type="dt" sz="half" idx="10"/>
          </p:nvPr>
        </p:nvSpPr>
        <p:spPr/>
        <p:txBody>
          <a:bodyPr/>
          <a:lstStyle/>
          <a:p>
            <a:fld id="{339B7B85-C979-D445-B913-DAEE4AF6E7F5}" type="datetimeFigureOut">
              <a:rPr lang="en-US" smtClean="0"/>
              <a:t>4/13/26</a:t>
            </a:fld>
            <a:endParaRPr lang="en-US"/>
          </a:p>
        </p:txBody>
      </p:sp>
      <p:sp>
        <p:nvSpPr>
          <p:cNvPr id="5" name="Footer Placeholder 4">
            <a:extLst>
              <a:ext uri="{FF2B5EF4-FFF2-40B4-BE49-F238E27FC236}">
                <a16:creationId xmlns:a16="http://schemas.microsoft.com/office/drawing/2014/main" id="{ACB16E30-580A-55E5-C716-FCCC68AE3C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64D41A-20DF-54F7-4F63-CF6C3ECB56C8}"/>
              </a:ext>
            </a:extLst>
          </p:cNvPr>
          <p:cNvSpPr>
            <a:spLocks noGrp="1"/>
          </p:cNvSpPr>
          <p:nvPr>
            <p:ph type="sldNum" sz="quarter" idx="12"/>
          </p:nvPr>
        </p:nvSpPr>
        <p:spPr/>
        <p:txBody>
          <a:bodyPr/>
          <a:lstStyle/>
          <a:p>
            <a:fld id="{CA8C48D7-CD17-4544-988F-0233C32EDF71}" type="slidenum">
              <a:rPr lang="en-US" smtClean="0"/>
              <a:t>‹#›</a:t>
            </a:fld>
            <a:endParaRPr lang="en-US"/>
          </a:p>
        </p:txBody>
      </p:sp>
    </p:spTree>
    <p:extLst>
      <p:ext uri="{BB962C8B-B14F-4D97-AF65-F5344CB8AC3E}">
        <p14:creationId xmlns:p14="http://schemas.microsoft.com/office/powerpoint/2010/main" val="2822418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0B99B31-1A14-C594-13FA-B0CCDE9A803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3870E8D-15D0-D9DD-28A1-6D91649EDB2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4D794E-4F31-5369-7020-EB133FC0D461}"/>
              </a:ext>
            </a:extLst>
          </p:cNvPr>
          <p:cNvSpPr>
            <a:spLocks noGrp="1"/>
          </p:cNvSpPr>
          <p:nvPr>
            <p:ph type="dt" sz="half" idx="10"/>
          </p:nvPr>
        </p:nvSpPr>
        <p:spPr/>
        <p:txBody>
          <a:bodyPr/>
          <a:lstStyle/>
          <a:p>
            <a:fld id="{339B7B85-C979-D445-B913-DAEE4AF6E7F5}" type="datetimeFigureOut">
              <a:rPr lang="en-US" smtClean="0"/>
              <a:t>4/13/26</a:t>
            </a:fld>
            <a:endParaRPr lang="en-US"/>
          </a:p>
        </p:txBody>
      </p:sp>
      <p:sp>
        <p:nvSpPr>
          <p:cNvPr id="5" name="Footer Placeholder 4">
            <a:extLst>
              <a:ext uri="{FF2B5EF4-FFF2-40B4-BE49-F238E27FC236}">
                <a16:creationId xmlns:a16="http://schemas.microsoft.com/office/drawing/2014/main" id="{F1ED622E-92E5-165F-D282-8BE3A6276A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245CEB-EC6C-118F-D8A8-413FB7288BB8}"/>
              </a:ext>
            </a:extLst>
          </p:cNvPr>
          <p:cNvSpPr>
            <a:spLocks noGrp="1"/>
          </p:cNvSpPr>
          <p:nvPr>
            <p:ph type="sldNum" sz="quarter" idx="12"/>
          </p:nvPr>
        </p:nvSpPr>
        <p:spPr/>
        <p:txBody>
          <a:bodyPr/>
          <a:lstStyle/>
          <a:p>
            <a:fld id="{CA8C48D7-CD17-4544-988F-0233C32EDF71}" type="slidenum">
              <a:rPr lang="en-US" smtClean="0"/>
              <a:t>‹#›</a:t>
            </a:fld>
            <a:endParaRPr lang="en-US"/>
          </a:p>
        </p:txBody>
      </p:sp>
    </p:spTree>
    <p:extLst>
      <p:ext uri="{BB962C8B-B14F-4D97-AF65-F5344CB8AC3E}">
        <p14:creationId xmlns:p14="http://schemas.microsoft.com/office/powerpoint/2010/main" val="33107669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F54916B-FB5F-928E-874E-08F6EE1523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4D91E26-F8F2-DB68-7CEF-847CBB424A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E15386C-EB69-EF28-C905-861A5359CF5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39B7B85-C979-D445-B913-DAEE4AF6E7F5}" type="datetimeFigureOut">
              <a:rPr lang="en-US" smtClean="0"/>
              <a:t>4/13/26</a:t>
            </a:fld>
            <a:endParaRPr lang="en-US"/>
          </a:p>
        </p:txBody>
      </p:sp>
      <p:sp>
        <p:nvSpPr>
          <p:cNvPr id="5" name="Footer Placeholder 4">
            <a:extLst>
              <a:ext uri="{FF2B5EF4-FFF2-40B4-BE49-F238E27FC236}">
                <a16:creationId xmlns:a16="http://schemas.microsoft.com/office/drawing/2014/main" id="{1F4252B3-0896-C5CE-6431-C7B23D8E02C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C8EBEDA-EC35-37D1-290C-0F3D461C3A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A8C48D7-CD17-4544-988F-0233C32EDF71}" type="slidenum">
              <a:rPr lang="en-US" smtClean="0"/>
              <a:t>‹#›</a:t>
            </a:fld>
            <a:endParaRPr lang="en-US"/>
          </a:p>
        </p:txBody>
      </p:sp>
    </p:spTree>
    <p:extLst>
      <p:ext uri="{BB962C8B-B14F-4D97-AF65-F5344CB8AC3E}">
        <p14:creationId xmlns:p14="http://schemas.microsoft.com/office/powerpoint/2010/main" val="3647363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www.kaggle.com/datasets/dillonmyrick/bells-palsy-clinical-trial" TargetMode="Externa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www.kaggle.com/datasets/dillonmyrick/bells-palsy-clinical-trial" TargetMode="Externa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4.xml"/><Relationship Id="rId6" Type="http://schemas.openxmlformats.org/officeDocument/2006/relationships/image" Target="../media/image3.jpe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4A03ACF-065C-E770-928D-B95CE75887FD}"/>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F8446B12-7391-4711-8B31-112A0B896C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6E627E7E-B066-A543-8DD5-CBD269E30CAD}"/>
              </a:ext>
            </a:extLst>
          </p:cNvPr>
          <p:cNvSpPr/>
          <p:nvPr/>
        </p:nvSpPr>
        <p:spPr>
          <a:xfrm>
            <a:off x="838199" y="4428000"/>
            <a:ext cx="6143626" cy="1400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rtlCol="0" anchor="b">
            <a:normAutofit/>
          </a:bodyPr>
          <a:lstStyle/>
          <a:p>
            <a:pPr>
              <a:lnSpc>
                <a:spcPct val="90000"/>
              </a:lnSpc>
              <a:spcBef>
                <a:spcPct val="0"/>
              </a:spcBef>
              <a:spcAft>
                <a:spcPts val="600"/>
              </a:spcAft>
            </a:pPr>
            <a:r>
              <a:rPr lang="en-US" sz="4300" kern="1200">
                <a:solidFill>
                  <a:schemeClr val="bg1"/>
                </a:solidFill>
                <a:latin typeface="+mj-lt"/>
                <a:ea typeface="+mj-ea"/>
                <a:cs typeface="+mj-cs"/>
              </a:rPr>
              <a:t>AI-Driven Regulatory Authoring</a:t>
            </a:r>
          </a:p>
        </p:txBody>
      </p:sp>
      <p:pic>
        <p:nvPicPr>
          <p:cNvPr id="5" name="Picture 4" descr="A diagram of a risk management process&#10;&#10;AI-generated content may be incorrect.">
            <a:extLst>
              <a:ext uri="{FF2B5EF4-FFF2-40B4-BE49-F238E27FC236}">
                <a16:creationId xmlns:a16="http://schemas.microsoft.com/office/drawing/2014/main" id="{C4F457C7-2B9B-181B-CEC9-87C0C34F9741}"/>
              </a:ext>
            </a:extLst>
          </p:cNvPr>
          <p:cNvPicPr>
            <a:picLocks noChangeAspect="1"/>
          </p:cNvPicPr>
          <p:nvPr/>
        </p:nvPicPr>
        <p:blipFill>
          <a:blip r:embed="rId2"/>
          <a:srcRect r="1" b="2339"/>
          <a:stretch>
            <a:fillRect/>
          </a:stretch>
        </p:blipFill>
        <p:spPr>
          <a:xfrm>
            <a:off x="6" y="-1"/>
            <a:ext cx="6000749" cy="3911828"/>
          </a:xfrm>
          <a:custGeom>
            <a:avLst/>
            <a:gdLst/>
            <a:ahLst/>
            <a:cxnLst/>
            <a:rect l="l" t="t" r="r" b="b"/>
            <a:pathLst>
              <a:path w="6000749" h="3911828">
                <a:moveTo>
                  <a:pt x="0" y="0"/>
                </a:moveTo>
                <a:lnTo>
                  <a:pt x="6000749" y="0"/>
                </a:lnTo>
                <a:lnTo>
                  <a:pt x="6000749" y="3767827"/>
                </a:lnTo>
                <a:lnTo>
                  <a:pt x="5572124" y="3740378"/>
                </a:lnTo>
                <a:lnTo>
                  <a:pt x="0" y="3911828"/>
                </a:lnTo>
                <a:close/>
              </a:path>
            </a:pathLst>
          </a:custGeom>
        </p:spPr>
      </p:pic>
      <p:pic>
        <p:nvPicPr>
          <p:cNvPr id="2" name="Picture 1" descr="A screenshot of a computer&#10;&#10;AI-generated content may be incorrect.">
            <a:extLst>
              <a:ext uri="{FF2B5EF4-FFF2-40B4-BE49-F238E27FC236}">
                <a16:creationId xmlns:a16="http://schemas.microsoft.com/office/drawing/2014/main" id="{227C9137-F376-0E2E-03A8-F4C34D0785A3}"/>
              </a:ext>
            </a:extLst>
          </p:cNvPr>
          <p:cNvPicPr>
            <a:picLocks noChangeAspect="1"/>
          </p:cNvPicPr>
          <p:nvPr/>
        </p:nvPicPr>
        <p:blipFill>
          <a:blip r:embed="rId3"/>
          <a:srcRect r="1" b="437"/>
          <a:stretch>
            <a:fillRect/>
          </a:stretch>
        </p:blipFill>
        <p:spPr>
          <a:xfrm>
            <a:off x="6191245" y="-1"/>
            <a:ext cx="6000750" cy="3988028"/>
          </a:xfrm>
          <a:custGeom>
            <a:avLst/>
            <a:gdLst/>
            <a:ahLst/>
            <a:cxnLst/>
            <a:rect l="l" t="t" r="r" b="b"/>
            <a:pathLst>
              <a:path w="6000750" h="3988028">
                <a:moveTo>
                  <a:pt x="0" y="0"/>
                </a:moveTo>
                <a:lnTo>
                  <a:pt x="6000750" y="0"/>
                </a:lnTo>
                <a:lnTo>
                  <a:pt x="6000750" y="797153"/>
                </a:lnTo>
                <a:lnTo>
                  <a:pt x="6000750" y="2634343"/>
                </a:lnTo>
                <a:lnTo>
                  <a:pt x="6000750" y="3911828"/>
                </a:lnTo>
                <a:lnTo>
                  <a:pt x="3248025" y="3988028"/>
                </a:lnTo>
                <a:lnTo>
                  <a:pt x="0" y="3780026"/>
                </a:lnTo>
                <a:close/>
              </a:path>
            </a:pathLst>
          </a:custGeom>
        </p:spPr>
      </p:pic>
      <p:grpSp>
        <p:nvGrpSpPr>
          <p:cNvPr id="21" name="Group 20">
            <a:extLst>
              <a:ext uri="{FF2B5EF4-FFF2-40B4-BE49-F238E27FC236}">
                <a16:creationId xmlns:a16="http://schemas.microsoft.com/office/drawing/2014/main" id="{AC0B7807-0C83-4963-821A-69B172722E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528992"/>
            <a:ext cx="12192000" cy="757168"/>
            <a:chOff x="0" y="2959818"/>
            <a:chExt cx="12192000" cy="757168"/>
          </a:xfrm>
        </p:grpSpPr>
        <p:sp>
          <p:nvSpPr>
            <p:cNvPr id="22" name="Freeform: Shape 21">
              <a:extLst>
                <a:ext uri="{FF2B5EF4-FFF2-40B4-BE49-F238E27FC236}">
                  <a16:creationId xmlns:a16="http://schemas.microsoft.com/office/drawing/2014/main" id="{BB027EC7-3252-48A2-A7A4-1741F72E47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Shape 22">
              <a:extLst>
                <a:ext uri="{FF2B5EF4-FFF2-40B4-BE49-F238E27FC236}">
                  <a16:creationId xmlns:a16="http://schemas.microsoft.com/office/drawing/2014/main" id="{4EBC51E4-7477-4290-BBD0-18AD942C3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4">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42483483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39" name="Rectangle 38">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492"/>
            <a:ext cx="12191998" cy="1575955"/>
          </a:xfrm>
          <a:prstGeom prst="rect">
            <a:avLst/>
          </a:prstGeom>
          <a:gradFill>
            <a:gsLst>
              <a:gs pos="0">
                <a:schemeClr val="accent1">
                  <a:lumMod val="50000"/>
                </a:scheme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35"/>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3539FEE-81D3-4406-802E-60B20B16F4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8" y="-5307777"/>
            <a:ext cx="1576446" cy="12192001"/>
          </a:xfrm>
          <a:prstGeom prst="rect">
            <a:avLst/>
          </a:prstGeom>
          <a:gradFill>
            <a:gsLst>
              <a:gs pos="16000">
                <a:srgbClr val="000000">
                  <a:alpha val="0"/>
                </a:srgbClr>
              </a:gs>
              <a:gs pos="99000">
                <a:srgbClr val="000000">
                  <a:alpha val="87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Rectangle 41">
            <a:extLst>
              <a:ext uri="{FF2B5EF4-FFF2-40B4-BE49-F238E27FC236}">
                <a16:creationId xmlns:a16="http://schemas.microsoft.com/office/drawing/2014/main" id="{DC701763-729E-462F-A5A8-E0DEFEB1E2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25434" y="986"/>
            <a:ext cx="4303422" cy="1575461"/>
          </a:xfrm>
          <a:prstGeom prst="rect">
            <a:avLst/>
          </a:prstGeom>
          <a:gradFill>
            <a:gsLst>
              <a:gs pos="0">
                <a:schemeClr val="accent1">
                  <a:alpha val="17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8B3D5398-4881-A89D-96FE-3EA60B61F895}"/>
              </a:ext>
            </a:extLst>
          </p:cNvPr>
          <p:cNvSpPr/>
          <p:nvPr/>
        </p:nvSpPr>
        <p:spPr>
          <a:xfrm>
            <a:off x="328655" y="226800"/>
            <a:ext cx="7914198" cy="11096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vert="horz" lIns="91440" tIns="45720" rIns="91440" bIns="45720" rtlCol="0" anchor="ctr">
            <a:noAutofit/>
          </a:bodyPr>
          <a:lstStyle/>
          <a:p>
            <a:pPr fontAlgn="ctr"/>
            <a:endParaRPr lang="en-US" sz="2000" b="1" dirty="0"/>
          </a:p>
          <a:p>
            <a:pPr fontAlgn="ctr"/>
            <a:r>
              <a:rPr lang="en-US" sz="2000" b="1" dirty="0"/>
              <a:t>Objective</a:t>
            </a:r>
            <a:endParaRPr lang="en-US" sz="2000" dirty="0"/>
          </a:p>
          <a:p>
            <a:r>
              <a:rPr lang="en-US" dirty="0"/>
              <a:t>Design an AI‑powered regulatory authoring platform that accelerates submissions while preserving regulatory control, consistency, and audit‑readiness across the product lifecycle.</a:t>
            </a:r>
          </a:p>
          <a:p>
            <a:pPr fontAlgn="t"/>
            <a:endParaRPr lang="en-US" sz="2000" dirty="0"/>
          </a:p>
        </p:txBody>
      </p:sp>
      <p:sp>
        <p:nvSpPr>
          <p:cNvPr id="26" name="Left-Right Arrow 25">
            <a:extLst>
              <a:ext uri="{FF2B5EF4-FFF2-40B4-BE49-F238E27FC236}">
                <a16:creationId xmlns:a16="http://schemas.microsoft.com/office/drawing/2014/main" id="{5E278CBB-FF85-059C-BCE9-7FD309A120A2}"/>
              </a:ext>
            </a:extLst>
          </p:cNvPr>
          <p:cNvSpPr/>
          <p:nvPr/>
        </p:nvSpPr>
        <p:spPr>
          <a:xfrm>
            <a:off x="8571507" y="387224"/>
            <a:ext cx="3291839" cy="830453"/>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a:lnSpc>
                <a:spcPct val="90000"/>
              </a:lnSpc>
              <a:spcBef>
                <a:spcPts val="1000"/>
              </a:spcBef>
            </a:pPr>
            <a:r>
              <a:rPr lang="en-US" sz="1600">
                <a:solidFill>
                  <a:srgbClr val="FFFFFF"/>
                </a:solidFill>
              </a:rPr>
              <a:t>Traceability state persistence</a:t>
            </a:r>
          </a:p>
        </p:txBody>
      </p:sp>
      <p:sp>
        <p:nvSpPr>
          <p:cNvPr id="41" name="TextBox 40">
            <a:extLst>
              <a:ext uri="{FF2B5EF4-FFF2-40B4-BE49-F238E27FC236}">
                <a16:creationId xmlns:a16="http://schemas.microsoft.com/office/drawing/2014/main" id="{53B54CC6-D4F8-B4F4-4515-BCD45C38B516}"/>
              </a:ext>
            </a:extLst>
          </p:cNvPr>
          <p:cNvSpPr txBox="1"/>
          <p:nvPr/>
        </p:nvSpPr>
        <p:spPr>
          <a:xfrm>
            <a:off x="8571507" y="6301499"/>
            <a:ext cx="8706721" cy="338554"/>
          </a:xfrm>
          <a:prstGeom prst="rect">
            <a:avLst/>
          </a:prstGeom>
          <a:noFill/>
        </p:spPr>
        <p:txBody>
          <a:bodyPr wrap="square" rtlCol="0">
            <a:spAutoFit/>
          </a:bodyPr>
          <a:lstStyle/>
          <a:p>
            <a:r>
              <a:rPr lang="en-US" sz="800" b="1" dirty="0"/>
              <a:t>Data used in </a:t>
            </a:r>
            <a:r>
              <a:rPr lang="en-US" sz="800" b="1" dirty="0" err="1"/>
              <a:t>demo:</a:t>
            </a:r>
            <a:r>
              <a:rPr lang="en-US" sz="800" dirty="0" err="1"/>
              <a:t>Clinical</a:t>
            </a:r>
            <a:r>
              <a:rPr lang="en-US" sz="800" dirty="0"/>
              <a:t> Data: Bells Palsy</a:t>
            </a:r>
          </a:p>
          <a:p>
            <a:r>
              <a:rPr lang="en-US" sz="800" dirty="0">
                <a:hlinkClick r:id="rId2"/>
              </a:rPr>
              <a:t>https://www.kaggle.com/datasets/dillonmyrick/bells-palsy-clinical-trial</a:t>
            </a:r>
            <a:endParaRPr lang="en-US" sz="800" dirty="0"/>
          </a:p>
        </p:txBody>
      </p:sp>
      <p:pic>
        <p:nvPicPr>
          <p:cNvPr id="6" name="Picture 5" descr="A diagram of a diagram&#10;&#10;AI-generated content may be incorrect.">
            <a:extLst>
              <a:ext uri="{FF2B5EF4-FFF2-40B4-BE49-F238E27FC236}">
                <a16:creationId xmlns:a16="http://schemas.microsoft.com/office/drawing/2014/main" id="{0B1287FF-9436-6EC1-6ACB-0F2A9634AE62}"/>
              </a:ext>
            </a:extLst>
          </p:cNvPr>
          <p:cNvPicPr>
            <a:picLocks noChangeAspect="1"/>
          </p:cNvPicPr>
          <p:nvPr/>
        </p:nvPicPr>
        <p:blipFill>
          <a:blip r:embed="rId3"/>
          <a:stretch>
            <a:fillRect/>
          </a:stretch>
        </p:blipFill>
        <p:spPr>
          <a:xfrm>
            <a:off x="973007" y="2138600"/>
            <a:ext cx="4030109" cy="4214192"/>
          </a:xfrm>
          <a:prstGeom prst="rect">
            <a:avLst/>
          </a:prstGeom>
        </p:spPr>
      </p:pic>
      <p:pic>
        <p:nvPicPr>
          <p:cNvPr id="2" name="Picture 1">
            <a:extLst>
              <a:ext uri="{FF2B5EF4-FFF2-40B4-BE49-F238E27FC236}">
                <a16:creationId xmlns:a16="http://schemas.microsoft.com/office/drawing/2014/main" id="{9F0F780D-16D5-BB17-9788-5F491347B37E}"/>
              </a:ext>
            </a:extLst>
          </p:cNvPr>
          <p:cNvPicPr>
            <a:picLocks noChangeAspect="1"/>
          </p:cNvPicPr>
          <p:nvPr/>
        </p:nvPicPr>
        <p:blipFill>
          <a:blip r:embed="rId4"/>
          <a:stretch>
            <a:fillRect/>
          </a:stretch>
        </p:blipFill>
        <p:spPr>
          <a:xfrm>
            <a:off x="5492111" y="2932308"/>
            <a:ext cx="3981443" cy="2654295"/>
          </a:xfrm>
          <a:prstGeom prst="rect">
            <a:avLst/>
          </a:prstGeom>
        </p:spPr>
      </p:pic>
      <p:sp>
        <p:nvSpPr>
          <p:cNvPr id="16" name="TextBox 15">
            <a:extLst>
              <a:ext uri="{FF2B5EF4-FFF2-40B4-BE49-F238E27FC236}">
                <a16:creationId xmlns:a16="http://schemas.microsoft.com/office/drawing/2014/main" id="{6CA8E617-98A0-A9FE-02CE-F7B94DF78B3D}"/>
              </a:ext>
            </a:extLst>
          </p:cNvPr>
          <p:cNvSpPr txBox="1"/>
          <p:nvPr/>
        </p:nvSpPr>
        <p:spPr>
          <a:xfrm>
            <a:off x="1096312" y="6388771"/>
            <a:ext cx="9046494" cy="288862"/>
          </a:xfrm>
          <a:prstGeom prst="rect">
            <a:avLst/>
          </a:prstGeom>
          <a:noFill/>
        </p:spPr>
        <p:txBody>
          <a:bodyPr wrap="square">
            <a:spAutoFit/>
          </a:bodyPr>
          <a:lstStyle/>
          <a:p>
            <a:pPr algn="l">
              <a:lnSpc>
                <a:spcPts val="1500"/>
              </a:lnSpc>
              <a:buNone/>
            </a:pPr>
            <a:r>
              <a:rPr lang="en-US" b="0" i="0" dirty="0">
                <a:solidFill>
                  <a:srgbClr val="000000"/>
                </a:solidFill>
                <a:effectLst/>
                <a:latin typeface="Segoe UI" panose="020B0502040204020203" pitchFamily="34" charset="0"/>
              </a:rPr>
              <a:t>AI‑driven regulatory authoring that reduces risk, not control.</a:t>
            </a:r>
          </a:p>
        </p:txBody>
      </p:sp>
      <p:sp>
        <p:nvSpPr>
          <p:cNvPr id="17" name="Right Arrow 16">
            <a:extLst>
              <a:ext uri="{FF2B5EF4-FFF2-40B4-BE49-F238E27FC236}">
                <a16:creationId xmlns:a16="http://schemas.microsoft.com/office/drawing/2014/main" id="{FE3DB239-94FA-481B-289C-D7FBE1562700}"/>
              </a:ext>
            </a:extLst>
          </p:cNvPr>
          <p:cNvSpPr/>
          <p:nvPr/>
        </p:nvSpPr>
        <p:spPr>
          <a:xfrm>
            <a:off x="5003116" y="4245696"/>
            <a:ext cx="441081" cy="17155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928179F-862B-6D45-A946-C52FD29CC724}"/>
              </a:ext>
            </a:extLst>
          </p:cNvPr>
          <p:cNvSpPr txBox="1"/>
          <p:nvPr/>
        </p:nvSpPr>
        <p:spPr>
          <a:xfrm>
            <a:off x="915464" y="1742906"/>
            <a:ext cx="9277642" cy="288862"/>
          </a:xfrm>
          <a:prstGeom prst="rect">
            <a:avLst/>
          </a:prstGeom>
          <a:noFill/>
        </p:spPr>
        <p:txBody>
          <a:bodyPr wrap="square">
            <a:spAutoFit/>
          </a:bodyPr>
          <a:lstStyle/>
          <a:p>
            <a:pPr algn="l">
              <a:lnSpc>
                <a:spcPts val="1500"/>
              </a:lnSpc>
              <a:buNone/>
            </a:pPr>
            <a:r>
              <a:rPr lang="en-US" b="0" i="0" dirty="0">
                <a:solidFill>
                  <a:srgbClr val="000000"/>
                </a:solidFill>
                <a:effectLst/>
                <a:latin typeface="Segoe UI" panose="020B0502040204020203" pitchFamily="34" charset="0"/>
              </a:rPr>
              <a:t>This platform does not replace regulatory judgment — it operationalizes it.</a:t>
            </a:r>
          </a:p>
        </p:txBody>
      </p:sp>
    </p:spTree>
    <p:extLst>
      <p:ext uri="{BB962C8B-B14F-4D97-AF65-F5344CB8AC3E}">
        <p14:creationId xmlns:p14="http://schemas.microsoft.com/office/powerpoint/2010/main" val="32769192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E2B77F-59A3-69EA-5C6D-3A9A6F034E54}"/>
            </a:ext>
          </a:extLst>
        </p:cNvPr>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0453FC74-C424-0AE6-9073-6CA6957543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39" name="Rectangle 38">
            <a:extLst>
              <a:ext uri="{FF2B5EF4-FFF2-40B4-BE49-F238E27FC236}">
                <a16:creationId xmlns:a16="http://schemas.microsoft.com/office/drawing/2014/main" id="{BEF36BC6-8EA9-5358-4D55-4C09ADE035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492"/>
            <a:ext cx="12191998" cy="1575955"/>
          </a:xfrm>
          <a:prstGeom prst="rect">
            <a:avLst/>
          </a:prstGeom>
          <a:gradFill>
            <a:gsLst>
              <a:gs pos="0">
                <a:schemeClr val="accent1">
                  <a:lumMod val="50000"/>
                </a:scheme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3E616EC8-AD55-3A07-5F08-455E2096F3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35"/>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2F83E92A-AA5F-5C57-ABBA-58044C67CC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8" y="-5307777"/>
            <a:ext cx="1576446" cy="12192001"/>
          </a:xfrm>
          <a:prstGeom prst="rect">
            <a:avLst/>
          </a:prstGeom>
          <a:gradFill>
            <a:gsLst>
              <a:gs pos="16000">
                <a:srgbClr val="000000">
                  <a:alpha val="0"/>
                </a:srgbClr>
              </a:gs>
              <a:gs pos="99000">
                <a:srgbClr val="000000">
                  <a:alpha val="87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Rectangle 41">
            <a:extLst>
              <a:ext uri="{FF2B5EF4-FFF2-40B4-BE49-F238E27FC236}">
                <a16:creationId xmlns:a16="http://schemas.microsoft.com/office/drawing/2014/main" id="{61165D8E-EDA7-1631-24FA-666A4F58CF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25434" y="986"/>
            <a:ext cx="4303422" cy="1575461"/>
          </a:xfrm>
          <a:prstGeom prst="rect">
            <a:avLst/>
          </a:prstGeom>
          <a:gradFill>
            <a:gsLst>
              <a:gs pos="0">
                <a:schemeClr val="accent1">
                  <a:alpha val="17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0CF7C0CA-9FC3-2760-9B61-6D29EABB3D02}"/>
              </a:ext>
            </a:extLst>
          </p:cNvPr>
          <p:cNvSpPr/>
          <p:nvPr/>
        </p:nvSpPr>
        <p:spPr>
          <a:xfrm>
            <a:off x="699714" y="353160"/>
            <a:ext cx="7091300" cy="89858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vert="horz" lIns="91440" tIns="45720" rIns="91440" bIns="45720" rtlCol="0" anchor="ctr">
            <a:normAutofit lnSpcReduction="10000"/>
          </a:bodyPr>
          <a:lstStyle/>
          <a:p>
            <a:pPr fontAlgn="ctr"/>
            <a:r>
              <a:rPr lang="en-US" b="1" dirty="0"/>
              <a:t>Objective</a:t>
            </a:r>
            <a:endParaRPr lang="en-US" dirty="0"/>
          </a:p>
          <a:p>
            <a:pPr fontAlgn="t"/>
            <a:r>
              <a:rPr lang="en-US" dirty="0"/>
              <a:t>Design AI-powered platform to accelerate regulatory document authoring across the pharmaceutical / biotech product lifecycle.</a:t>
            </a:r>
          </a:p>
        </p:txBody>
      </p:sp>
      <p:sp>
        <p:nvSpPr>
          <p:cNvPr id="26" name="Left-Right Arrow 25">
            <a:extLst>
              <a:ext uri="{FF2B5EF4-FFF2-40B4-BE49-F238E27FC236}">
                <a16:creationId xmlns:a16="http://schemas.microsoft.com/office/drawing/2014/main" id="{B55EC8A8-B23D-D07E-01E6-690D642C60C3}"/>
              </a:ext>
            </a:extLst>
          </p:cNvPr>
          <p:cNvSpPr/>
          <p:nvPr/>
        </p:nvSpPr>
        <p:spPr>
          <a:xfrm>
            <a:off x="8571507" y="387224"/>
            <a:ext cx="3291839" cy="830453"/>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a:lnSpc>
                <a:spcPct val="90000"/>
              </a:lnSpc>
              <a:spcBef>
                <a:spcPts val="1000"/>
              </a:spcBef>
            </a:pPr>
            <a:r>
              <a:rPr lang="en-US" sz="1600">
                <a:solidFill>
                  <a:srgbClr val="FFFFFF"/>
                </a:solidFill>
              </a:rPr>
              <a:t>Traceability state persistence</a:t>
            </a:r>
          </a:p>
        </p:txBody>
      </p:sp>
      <p:sp>
        <p:nvSpPr>
          <p:cNvPr id="32" name="TextBox 31">
            <a:extLst>
              <a:ext uri="{FF2B5EF4-FFF2-40B4-BE49-F238E27FC236}">
                <a16:creationId xmlns:a16="http://schemas.microsoft.com/office/drawing/2014/main" id="{7C96AB18-ECF8-91DB-7E43-F6845C3A7426}"/>
              </a:ext>
            </a:extLst>
          </p:cNvPr>
          <p:cNvSpPr txBox="1"/>
          <p:nvPr/>
        </p:nvSpPr>
        <p:spPr>
          <a:xfrm>
            <a:off x="1319134" y="2473377"/>
            <a:ext cx="3087974" cy="646331"/>
          </a:xfrm>
          <a:prstGeom prst="rect">
            <a:avLst/>
          </a:prstGeom>
          <a:noFill/>
        </p:spPr>
        <p:txBody>
          <a:bodyPr wrap="square" rtlCol="0">
            <a:spAutoFit/>
          </a:bodyPr>
          <a:lstStyle/>
          <a:p>
            <a:r>
              <a:rPr lang="en-US" dirty="0"/>
              <a:t>One time effort but reusable across all the program level</a:t>
            </a:r>
          </a:p>
        </p:txBody>
      </p:sp>
      <p:sp>
        <p:nvSpPr>
          <p:cNvPr id="35" name="Left-Right Arrow 34">
            <a:extLst>
              <a:ext uri="{FF2B5EF4-FFF2-40B4-BE49-F238E27FC236}">
                <a16:creationId xmlns:a16="http://schemas.microsoft.com/office/drawing/2014/main" id="{F18499C4-B375-68C5-DFB6-1D15A6C47238}"/>
              </a:ext>
            </a:extLst>
          </p:cNvPr>
          <p:cNvSpPr/>
          <p:nvPr/>
        </p:nvSpPr>
        <p:spPr>
          <a:xfrm>
            <a:off x="4886793" y="6145969"/>
            <a:ext cx="6145971" cy="709494"/>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vert="horz" lIns="91440" tIns="45720" rIns="91440" bIns="45720" rtlCol="0" anchor="ctr">
            <a:normAutofit/>
          </a:bodyPr>
          <a:lstStyle/>
          <a:p>
            <a:pPr algn="ctr">
              <a:lnSpc>
                <a:spcPct val="90000"/>
              </a:lnSpc>
              <a:spcBef>
                <a:spcPts val="1000"/>
              </a:spcBef>
            </a:pPr>
            <a:r>
              <a:rPr lang="en-US" sz="1600" dirty="0">
                <a:solidFill>
                  <a:srgbClr val="FFFFFF"/>
                </a:solidFill>
              </a:rPr>
              <a:t>Content Generator</a:t>
            </a:r>
          </a:p>
        </p:txBody>
      </p:sp>
      <p:sp>
        <p:nvSpPr>
          <p:cNvPr id="41" name="TextBox 40">
            <a:extLst>
              <a:ext uri="{FF2B5EF4-FFF2-40B4-BE49-F238E27FC236}">
                <a16:creationId xmlns:a16="http://schemas.microsoft.com/office/drawing/2014/main" id="{BE802099-595F-8710-A535-3E601DF96F24}"/>
              </a:ext>
            </a:extLst>
          </p:cNvPr>
          <p:cNvSpPr txBox="1"/>
          <p:nvPr/>
        </p:nvSpPr>
        <p:spPr>
          <a:xfrm>
            <a:off x="0" y="1492269"/>
            <a:ext cx="11746223" cy="646331"/>
          </a:xfrm>
          <a:prstGeom prst="rect">
            <a:avLst/>
          </a:prstGeom>
          <a:noFill/>
        </p:spPr>
        <p:txBody>
          <a:bodyPr wrap="square" rtlCol="0">
            <a:spAutoFit/>
          </a:bodyPr>
          <a:lstStyle/>
          <a:p>
            <a:r>
              <a:rPr lang="en-US" dirty="0"/>
              <a:t>Clinical Data: Bells Palsy</a:t>
            </a:r>
          </a:p>
          <a:p>
            <a:r>
              <a:rPr lang="en-US" dirty="0">
                <a:hlinkClick r:id="rId2"/>
              </a:rPr>
              <a:t>https://www.kaggle.com/datasets/dillonmyrick/bells-palsy-clinical-trial</a:t>
            </a:r>
            <a:endParaRPr lang="en-US" dirty="0"/>
          </a:p>
        </p:txBody>
      </p:sp>
      <p:sp>
        <p:nvSpPr>
          <p:cNvPr id="44" name="Rectangle 43">
            <a:extLst>
              <a:ext uri="{FF2B5EF4-FFF2-40B4-BE49-F238E27FC236}">
                <a16:creationId xmlns:a16="http://schemas.microsoft.com/office/drawing/2014/main" id="{39F0B3CF-EEEF-88BA-CB30-6A1534D34243}"/>
              </a:ext>
            </a:extLst>
          </p:cNvPr>
          <p:cNvSpPr/>
          <p:nvPr/>
        </p:nvSpPr>
        <p:spPr>
          <a:xfrm>
            <a:off x="6759934" y="2112956"/>
            <a:ext cx="1428585" cy="300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AI-Author </a:t>
            </a:r>
          </a:p>
        </p:txBody>
      </p:sp>
      <p:sp>
        <p:nvSpPr>
          <p:cNvPr id="45" name="Rectangle 44">
            <a:extLst>
              <a:ext uri="{FF2B5EF4-FFF2-40B4-BE49-F238E27FC236}">
                <a16:creationId xmlns:a16="http://schemas.microsoft.com/office/drawing/2014/main" id="{BF797F03-C09E-87E0-3E42-A5F64E581387}"/>
              </a:ext>
            </a:extLst>
          </p:cNvPr>
          <p:cNvSpPr/>
          <p:nvPr/>
        </p:nvSpPr>
        <p:spPr>
          <a:xfrm>
            <a:off x="10469219" y="2080592"/>
            <a:ext cx="1605050" cy="42141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buFont typeface="Arial" panose="020B0604020202020204" pitchFamily="34" charset="0"/>
              <a:buChar char="•"/>
            </a:pPr>
            <a:r>
              <a:rPr lang="en-US" sz="1200" b="1" dirty="0"/>
              <a:t>Hybrid Analytical Engine bridges the intelligence layer and writer to assist content authoring</a:t>
            </a:r>
          </a:p>
          <a:p>
            <a:pPr algn="just"/>
            <a:endParaRPr lang="en-US" sz="1200" dirty="0"/>
          </a:p>
          <a:p>
            <a:pPr algn="just">
              <a:buFont typeface="Arial" panose="020B0604020202020204" pitchFamily="34" charset="0"/>
              <a:buChar char="•"/>
            </a:pPr>
            <a:r>
              <a:rPr lang="en-US" sz="1200" b="1" dirty="0"/>
              <a:t>Content generation order is guided by regulatory requirements and defined once, then reused across programs</a:t>
            </a:r>
          </a:p>
          <a:p>
            <a:pPr algn="just">
              <a:buFont typeface="Arial" panose="020B0604020202020204" pitchFamily="34" charset="0"/>
              <a:buChar char="•"/>
            </a:pPr>
            <a:endParaRPr lang="en-US" sz="1200" dirty="0"/>
          </a:p>
          <a:p>
            <a:pPr algn="just">
              <a:buFont typeface="Arial" panose="020B0604020202020204" pitchFamily="34" charset="0"/>
              <a:buChar char="•"/>
            </a:pPr>
            <a:r>
              <a:rPr lang="en-US" sz="1200" b="1" dirty="0"/>
              <a:t>CSR is generated first as the primary evidence source, followed by downstream modules (e.g., Module 2)</a:t>
            </a:r>
            <a:endParaRPr lang="en-US" sz="1200" dirty="0"/>
          </a:p>
        </p:txBody>
      </p:sp>
      <p:sp>
        <p:nvSpPr>
          <p:cNvPr id="48" name="TextBox 47">
            <a:extLst>
              <a:ext uri="{FF2B5EF4-FFF2-40B4-BE49-F238E27FC236}">
                <a16:creationId xmlns:a16="http://schemas.microsoft.com/office/drawing/2014/main" id="{B1F0160F-E4CB-4763-05A7-257651ECA6DF}"/>
              </a:ext>
            </a:extLst>
          </p:cNvPr>
          <p:cNvSpPr txBox="1"/>
          <p:nvPr/>
        </p:nvSpPr>
        <p:spPr>
          <a:xfrm>
            <a:off x="272448" y="4945640"/>
            <a:ext cx="4168569" cy="1754326"/>
          </a:xfrm>
          <a:prstGeom prst="rect">
            <a:avLst/>
          </a:prstGeom>
          <a:noFill/>
        </p:spPr>
        <p:txBody>
          <a:bodyPr wrap="square">
            <a:spAutoFit/>
          </a:bodyPr>
          <a:lstStyle/>
          <a:p>
            <a:pPr>
              <a:buFont typeface="Arial" panose="020B0604020202020204" pitchFamily="34" charset="0"/>
              <a:buChar char="•"/>
            </a:pPr>
            <a:r>
              <a:rPr lang="en-US" sz="1200" b="1" dirty="0"/>
              <a:t>CTD scaffolding ensures standardized document structure</a:t>
            </a:r>
            <a:endParaRPr lang="en-US" sz="1200" dirty="0"/>
          </a:p>
          <a:p>
            <a:pPr>
              <a:buFont typeface="Arial" panose="020B0604020202020204" pitchFamily="34" charset="0"/>
              <a:buChar char="•"/>
            </a:pPr>
            <a:r>
              <a:rPr lang="en-US" sz="1200" b="1" dirty="0"/>
              <a:t>Template-driven generation enforces consistency and compliance</a:t>
            </a:r>
          </a:p>
          <a:p>
            <a:pPr>
              <a:buFont typeface="Arial" panose="020B0604020202020204" pitchFamily="34" charset="0"/>
              <a:buChar char="•"/>
            </a:pPr>
            <a:r>
              <a:rPr lang="en-US" sz="1200" b="1" dirty="0"/>
              <a:t>Consistency validator ensures data across all the module remains same</a:t>
            </a:r>
          </a:p>
          <a:p>
            <a:pPr>
              <a:buFont typeface="Arial" panose="020B0604020202020204" pitchFamily="34" charset="0"/>
              <a:buChar char="•"/>
            </a:pPr>
            <a:r>
              <a:rPr lang="en-US" sz="1200" b="1" dirty="0"/>
              <a:t>Cross-module ensures semantic content remains same</a:t>
            </a:r>
          </a:p>
          <a:p>
            <a:pPr>
              <a:buFont typeface="Arial" panose="020B0604020202020204" pitchFamily="34" charset="0"/>
              <a:buChar char="•"/>
            </a:pPr>
            <a:r>
              <a:rPr lang="en-US" sz="1200" b="1" dirty="0"/>
              <a:t>Traceability Layer maintains the persistence record state like approval, version so on.</a:t>
            </a:r>
            <a:endParaRPr lang="en-US" sz="1200" dirty="0"/>
          </a:p>
        </p:txBody>
      </p:sp>
      <p:pic>
        <p:nvPicPr>
          <p:cNvPr id="6" name="Picture 5" descr="A diagram of a diagram&#10;&#10;AI-generated content may be incorrect.">
            <a:extLst>
              <a:ext uri="{FF2B5EF4-FFF2-40B4-BE49-F238E27FC236}">
                <a16:creationId xmlns:a16="http://schemas.microsoft.com/office/drawing/2014/main" id="{A1C2D62D-66C7-EDD8-12E6-D412EB0432FD}"/>
              </a:ext>
            </a:extLst>
          </p:cNvPr>
          <p:cNvPicPr>
            <a:picLocks noChangeAspect="1"/>
          </p:cNvPicPr>
          <p:nvPr/>
        </p:nvPicPr>
        <p:blipFill>
          <a:blip r:embed="rId3"/>
          <a:stretch>
            <a:fillRect/>
          </a:stretch>
        </p:blipFill>
        <p:spPr>
          <a:xfrm>
            <a:off x="2065891" y="2485774"/>
            <a:ext cx="4030109" cy="4214192"/>
          </a:xfrm>
          <a:prstGeom prst="rect">
            <a:avLst/>
          </a:prstGeom>
        </p:spPr>
      </p:pic>
      <p:sp>
        <p:nvSpPr>
          <p:cNvPr id="7" name="Rectangle 6">
            <a:extLst>
              <a:ext uri="{FF2B5EF4-FFF2-40B4-BE49-F238E27FC236}">
                <a16:creationId xmlns:a16="http://schemas.microsoft.com/office/drawing/2014/main" id="{15F3F243-C3FA-8A81-5CEA-2EC7CEC7075A}"/>
              </a:ext>
            </a:extLst>
          </p:cNvPr>
          <p:cNvSpPr/>
          <p:nvPr/>
        </p:nvSpPr>
        <p:spPr>
          <a:xfrm>
            <a:off x="6912334" y="2265356"/>
            <a:ext cx="1428585" cy="300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AI-Author </a:t>
            </a:r>
          </a:p>
        </p:txBody>
      </p:sp>
    </p:spTree>
    <p:extLst>
      <p:ext uri="{BB962C8B-B14F-4D97-AF65-F5344CB8AC3E}">
        <p14:creationId xmlns:p14="http://schemas.microsoft.com/office/powerpoint/2010/main" val="10468445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1" name="Rectangle 110">
            <a:extLst>
              <a:ext uri="{FF2B5EF4-FFF2-40B4-BE49-F238E27FC236}">
                <a16:creationId xmlns:a16="http://schemas.microsoft.com/office/drawing/2014/main" id="{114C78B5-EC6B-4A39-8860-7051008674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7">
            <a:extLst>
              <a:ext uri="{FF2B5EF4-FFF2-40B4-BE49-F238E27FC236}">
                <a16:creationId xmlns:a16="http://schemas.microsoft.com/office/drawing/2014/main" id="{D1140348-B289-C472-2E3E-0B120FB3BC9F}"/>
              </a:ext>
            </a:extLst>
          </p:cNvPr>
          <p:cNvSpPr>
            <a:spLocks noGrp="1"/>
          </p:cNvSpPr>
          <p:nvPr>
            <p:ph type="title"/>
          </p:nvPr>
        </p:nvSpPr>
        <p:spPr>
          <a:xfrm>
            <a:off x="838200" y="4669978"/>
            <a:ext cx="4391024" cy="1173700"/>
          </a:xfrm>
        </p:spPr>
        <p:txBody>
          <a:bodyPr vert="horz" lIns="91440" tIns="45720" rIns="91440" bIns="45720" rtlCol="0" anchor="t">
            <a:normAutofit/>
          </a:bodyPr>
          <a:lstStyle/>
          <a:p>
            <a:r>
              <a:rPr lang="en-US" sz="3700" kern="1200">
                <a:solidFill>
                  <a:schemeClr val="bg1"/>
                </a:solidFill>
                <a:latin typeface="+mj-lt"/>
                <a:ea typeface="+mj-ea"/>
                <a:cs typeface="+mj-cs"/>
              </a:rPr>
              <a:t>Example: How risk is minimised</a:t>
            </a:r>
          </a:p>
        </p:txBody>
      </p:sp>
      <p:pic>
        <p:nvPicPr>
          <p:cNvPr id="13" name="Picture 12" descr="A screenshot of a computer&#10;&#10;AI-generated content may be incorrect.">
            <a:extLst>
              <a:ext uri="{FF2B5EF4-FFF2-40B4-BE49-F238E27FC236}">
                <a16:creationId xmlns:a16="http://schemas.microsoft.com/office/drawing/2014/main" id="{FDF3AF43-B18B-79A3-4496-08D1530EF72D}"/>
              </a:ext>
            </a:extLst>
          </p:cNvPr>
          <p:cNvPicPr>
            <a:picLocks noChangeAspect="1"/>
          </p:cNvPicPr>
          <p:nvPr/>
        </p:nvPicPr>
        <p:blipFill>
          <a:blip r:embed="rId3"/>
          <a:srcRect t="12368" r="-2" b="28089"/>
          <a:stretch>
            <a:fillRect/>
          </a:stretch>
        </p:blipFill>
        <p:spPr>
          <a:xfrm>
            <a:off x="20" y="10"/>
            <a:ext cx="4000480" cy="3904882"/>
          </a:xfrm>
          <a:custGeom>
            <a:avLst/>
            <a:gdLst/>
            <a:ahLst/>
            <a:cxnLst/>
            <a:rect l="l" t="t" r="r" b="b"/>
            <a:pathLst>
              <a:path w="4000500" h="3413410">
                <a:moveTo>
                  <a:pt x="0" y="0"/>
                </a:moveTo>
                <a:lnTo>
                  <a:pt x="4000500" y="0"/>
                </a:lnTo>
                <a:lnTo>
                  <a:pt x="4000500" y="3330603"/>
                </a:lnTo>
                <a:lnTo>
                  <a:pt x="416174" y="3413410"/>
                </a:lnTo>
                <a:lnTo>
                  <a:pt x="0" y="3408169"/>
                </a:lnTo>
                <a:close/>
              </a:path>
            </a:pathLst>
          </a:custGeom>
        </p:spPr>
      </p:pic>
      <p:pic>
        <p:nvPicPr>
          <p:cNvPr id="20" name="Picture 19" descr="A screenshot of a computer&#10;&#10;AI-generated content may be incorrect.">
            <a:extLst>
              <a:ext uri="{FF2B5EF4-FFF2-40B4-BE49-F238E27FC236}">
                <a16:creationId xmlns:a16="http://schemas.microsoft.com/office/drawing/2014/main" id="{7C5F08F1-C133-A8FA-4698-53F065C5277F}"/>
              </a:ext>
            </a:extLst>
          </p:cNvPr>
          <p:cNvPicPr>
            <a:picLocks noChangeAspect="1"/>
          </p:cNvPicPr>
          <p:nvPr/>
        </p:nvPicPr>
        <p:blipFill>
          <a:blip r:embed="rId4"/>
          <a:srcRect r="63412" b="2"/>
          <a:stretch>
            <a:fillRect/>
          </a:stretch>
        </p:blipFill>
        <p:spPr>
          <a:xfrm>
            <a:off x="4191002" y="10"/>
            <a:ext cx="3809998" cy="3904881"/>
          </a:xfrm>
          <a:custGeom>
            <a:avLst/>
            <a:gdLst/>
            <a:ahLst/>
            <a:cxnLst/>
            <a:rect l="l" t="t" r="r" b="b"/>
            <a:pathLst>
              <a:path w="3809998" h="3361533">
                <a:moveTo>
                  <a:pt x="0" y="0"/>
                </a:moveTo>
                <a:lnTo>
                  <a:pt x="3809998" y="0"/>
                </a:lnTo>
                <a:lnTo>
                  <a:pt x="3809998" y="3353206"/>
                </a:lnTo>
                <a:lnTo>
                  <a:pt x="1781628" y="3181423"/>
                </a:lnTo>
                <a:lnTo>
                  <a:pt x="0" y="3361533"/>
                </a:lnTo>
                <a:close/>
              </a:path>
            </a:pathLst>
          </a:custGeom>
        </p:spPr>
      </p:pic>
      <p:pic>
        <p:nvPicPr>
          <p:cNvPr id="24" name="Picture 23" descr="A screenshot of a computer program&#10;&#10;AI-generated content may be incorrect.">
            <a:extLst>
              <a:ext uri="{FF2B5EF4-FFF2-40B4-BE49-F238E27FC236}">
                <a16:creationId xmlns:a16="http://schemas.microsoft.com/office/drawing/2014/main" id="{19CF0AD8-1F21-3474-0198-8093356E0C88}"/>
              </a:ext>
            </a:extLst>
          </p:cNvPr>
          <p:cNvPicPr>
            <a:picLocks noChangeAspect="1"/>
          </p:cNvPicPr>
          <p:nvPr/>
        </p:nvPicPr>
        <p:blipFill>
          <a:blip r:embed="rId5"/>
          <a:srcRect t="6065"/>
          <a:stretch>
            <a:fillRect/>
          </a:stretch>
        </p:blipFill>
        <p:spPr>
          <a:xfrm>
            <a:off x="8191500" y="-1"/>
            <a:ext cx="4000500" cy="4008409"/>
          </a:xfrm>
          <a:custGeom>
            <a:avLst/>
            <a:gdLst/>
            <a:ahLst/>
            <a:cxnLst/>
            <a:rect l="l" t="t" r="r" b="b"/>
            <a:pathLst>
              <a:path w="4000500" h="3403026">
                <a:moveTo>
                  <a:pt x="0" y="0"/>
                </a:moveTo>
                <a:lnTo>
                  <a:pt x="4000500" y="0"/>
                </a:lnTo>
                <a:lnTo>
                  <a:pt x="4000500" y="3403026"/>
                </a:lnTo>
                <a:lnTo>
                  <a:pt x="9072" y="3370108"/>
                </a:lnTo>
                <a:lnTo>
                  <a:pt x="0" y="3369340"/>
                </a:lnTo>
                <a:close/>
              </a:path>
            </a:pathLst>
          </a:custGeom>
        </p:spPr>
      </p:pic>
      <p:grpSp>
        <p:nvGrpSpPr>
          <p:cNvPr id="112" name="Group 111">
            <a:extLst>
              <a:ext uri="{FF2B5EF4-FFF2-40B4-BE49-F238E27FC236}">
                <a16:creationId xmlns:a16="http://schemas.microsoft.com/office/drawing/2014/main" id="{A50943B0-FDF7-4C2C-B784-9208C945A8C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528992"/>
            <a:ext cx="12192000" cy="757168"/>
            <a:chOff x="0" y="2959818"/>
            <a:chExt cx="12192000" cy="757168"/>
          </a:xfrm>
        </p:grpSpPr>
        <p:sp>
          <p:nvSpPr>
            <p:cNvPr id="80" name="Freeform: Shape 79">
              <a:extLst>
                <a:ext uri="{FF2B5EF4-FFF2-40B4-BE49-F238E27FC236}">
                  <a16:creationId xmlns:a16="http://schemas.microsoft.com/office/drawing/2014/main" id="{64021FAB-FA86-49DE-8FC9-585A1729B7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13" name="Freeform: Shape 80">
              <a:extLst>
                <a:ext uri="{FF2B5EF4-FFF2-40B4-BE49-F238E27FC236}">
                  <a16:creationId xmlns:a16="http://schemas.microsoft.com/office/drawing/2014/main" id="{7B58B526-A432-4EB5-AA70-2BB897257A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6">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5" name="Title 7">
            <a:extLst>
              <a:ext uri="{FF2B5EF4-FFF2-40B4-BE49-F238E27FC236}">
                <a16:creationId xmlns:a16="http://schemas.microsoft.com/office/drawing/2014/main" id="{2B4E07CC-7101-F9BD-F39B-CB4B15468301}"/>
              </a:ext>
            </a:extLst>
          </p:cNvPr>
          <p:cNvSpPr txBox="1">
            <a:spLocks/>
          </p:cNvSpPr>
          <p:nvPr/>
        </p:nvSpPr>
        <p:spPr>
          <a:xfrm>
            <a:off x="5664201" y="4766267"/>
            <a:ext cx="5692774" cy="1077411"/>
          </a:xfrm>
          <a:prstGeom prst="rect">
            <a:avLst/>
          </a:prstGeom>
        </p:spPr>
        <p:txBody>
          <a:bodyPr vert="horz" lIns="91440" tIns="45720" rIns="91440" bIns="45720" rtlCol="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indent="-228600">
              <a:spcAft>
                <a:spcPts val="600"/>
              </a:spcAft>
              <a:buFont typeface="Arial" panose="020B0604020202020204" pitchFamily="34" charset="0"/>
              <a:buChar char="•"/>
            </a:pPr>
            <a:r>
              <a:rPr lang="en-US" sz="1400" dirty="0">
                <a:solidFill>
                  <a:schemeClr val="bg1">
                    <a:alpha val="80000"/>
                  </a:schemeClr>
                </a:solidFill>
                <a:latin typeface="+mn-lt"/>
                <a:ea typeface="+mn-ea"/>
                <a:cs typeface="+mn-cs"/>
              </a:rPr>
              <a:t>Scalable</a:t>
            </a:r>
          </a:p>
          <a:p>
            <a:pPr indent="-228600">
              <a:spcAft>
                <a:spcPts val="600"/>
              </a:spcAft>
              <a:buFont typeface="Arial" panose="020B0604020202020204" pitchFamily="34" charset="0"/>
              <a:buChar char="•"/>
            </a:pPr>
            <a:r>
              <a:rPr lang="en-US" sz="1400" dirty="0">
                <a:solidFill>
                  <a:schemeClr val="bg1">
                    <a:alpha val="80000"/>
                  </a:schemeClr>
                </a:solidFill>
                <a:latin typeface="+mn-lt"/>
                <a:ea typeface="+mn-ea"/>
                <a:cs typeface="+mn-cs"/>
              </a:rPr>
              <a:t>Privacy protected: Local hosted LLM</a:t>
            </a:r>
          </a:p>
          <a:p>
            <a:pPr indent="-228600">
              <a:spcAft>
                <a:spcPts val="600"/>
              </a:spcAft>
              <a:buFont typeface="Arial" panose="020B0604020202020204" pitchFamily="34" charset="0"/>
              <a:buChar char="•"/>
            </a:pPr>
            <a:r>
              <a:rPr lang="en-US" sz="1400" dirty="0">
                <a:solidFill>
                  <a:schemeClr val="bg1">
                    <a:alpha val="80000"/>
                  </a:schemeClr>
                </a:solidFill>
                <a:latin typeface="+mn-lt"/>
                <a:ea typeface="+mn-ea"/>
                <a:cs typeface="+mn-cs"/>
              </a:rPr>
              <a:t>Role based Control: Access based on need to know</a:t>
            </a:r>
          </a:p>
          <a:p>
            <a:pPr indent="-228600">
              <a:spcAft>
                <a:spcPts val="600"/>
              </a:spcAft>
              <a:buFont typeface="Arial" panose="020B0604020202020204" pitchFamily="34" charset="0"/>
              <a:buChar char="•"/>
            </a:pPr>
            <a:r>
              <a:rPr lang="en-US" sz="1400" dirty="0">
                <a:solidFill>
                  <a:schemeClr val="bg1">
                    <a:alpha val="80000"/>
                  </a:schemeClr>
                </a:solidFill>
                <a:latin typeface="+mn-lt"/>
                <a:ea typeface="+mn-ea"/>
                <a:cs typeface="+mn-cs"/>
              </a:rPr>
              <a:t>Least privilege Authentication: No human error</a:t>
            </a:r>
          </a:p>
          <a:p>
            <a:pPr indent="-228600">
              <a:spcAft>
                <a:spcPts val="600"/>
              </a:spcAft>
              <a:buFont typeface="Arial" panose="020B0604020202020204" pitchFamily="34" charset="0"/>
              <a:buChar char="•"/>
            </a:pPr>
            <a:r>
              <a:rPr lang="en-US" sz="1400" dirty="0">
                <a:solidFill>
                  <a:schemeClr val="bg1">
                    <a:alpha val="80000"/>
                  </a:schemeClr>
                </a:solidFill>
                <a:latin typeface="+mn-lt"/>
                <a:ea typeface="+mn-ea"/>
                <a:cs typeface="+mn-cs"/>
              </a:rPr>
              <a:t>Secret Manager: No accidental leak of data</a:t>
            </a:r>
          </a:p>
          <a:p>
            <a:pPr indent="-228600">
              <a:spcAft>
                <a:spcPts val="600"/>
              </a:spcAft>
              <a:buFont typeface="Arial" panose="020B0604020202020204" pitchFamily="34" charset="0"/>
              <a:buChar char="•"/>
            </a:pPr>
            <a:endParaRPr lang="en-US" sz="1400" dirty="0">
              <a:solidFill>
                <a:schemeClr val="bg1">
                  <a:alpha val="80000"/>
                </a:schemeClr>
              </a:solidFill>
              <a:latin typeface="+mn-lt"/>
              <a:ea typeface="+mn-ea"/>
              <a:cs typeface="+mn-cs"/>
            </a:endParaRPr>
          </a:p>
        </p:txBody>
      </p:sp>
    </p:spTree>
    <p:extLst>
      <p:ext uri="{BB962C8B-B14F-4D97-AF65-F5344CB8AC3E}">
        <p14:creationId xmlns:p14="http://schemas.microsoft.com/office/powerpoint/2010/main" val="406700417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25"/>
                                        </p:tgtEl>
                                        <p:attrNameLst>
                                          <p:attrName>style.visibility</p:attrName>
                                        </p:attrNameLst>
                                      </p:cBhvr>
                                      <p:to>
                                        <p:strVal val="visible"/>
                                      </p:to>
                                    </p:set>
                                    <p:animEffect transition="in" filter="fade">
                                      <p:cBhvr>
                                        <p:cTn id="10" dur="7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2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6A571-3ED9-B7AB-F45B-F3E5E9AD61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D3795C3-740E-1124-1CF9-5A0B40283155}"/>
              </a:ext>
            </a:extLst>
          </p:cNvPr>
          <p:cNvSpPr/>
          <p:nvPr/>
        </p:nvSpPr>
        <p:spPr>
          <a:xfrm>
            <a:off x="0" y="0"/>
            <a:ext cx="12192000" cy="6891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90000"/>
              </a:lnSpc>
              <a:spcBef>
                <a:spcPct val="0"/>
              </a:spcBef>
              <a:spcAft>
                <a:spcPts val="600"/>
              </a:spcAft>
            </a:pPr>
            <a:r>
              <a:rPr lang="en-US" dirty="0">
                <a:solidFill>
                  <a:srgbClr val="FFFFFF"/>
                </a:solidFill>
              </a:rPr>
              <a:t>Risk-Mitigation</a:t>
            </a:r>
          </a:p>
        </p:txBody>
      </p:sp>
      <p:graphicFrame>
        <p:nvGraphicFramePr>
          <p:cNvPr id="2" name="Table 1">
            <a:extLst>
              <a:ext uri="{FF2B5EF4-FFF2-40B4-BE49-F238E27FC236}">
                <a16:creationId xmlns:a16="http://schemas.microsoft.com/office/drawing/2014/main" id="{519E536C-9AB1-8EA3-3C0B-E13740985392}"/>
              </a:ext>
            </a:extLst>
          </p:cNvPr>
          <p:cNvGraphicFramePr>
            <a:graphicFrameLocks noGrp="1"/>
          </p:cNvGraphicFramePr>
          <p:nvPr>
            <p:extLst>
              <p:ext uri="{D42A27DB-BD31-4B8C-83A1-F6EECF244321}">
                <p14:modId xmlns:p14="http://schemas.microsoft.com/office/powerpoint/2010/main" val="1954536129"/>
              </p:ext>
            </p:extLst>
          </p:nvPr>
        </p:nvGraphicFramePr>
        <p:xfrm>
          <a:off x="6729911" y="1790697"/>
          <a:ext cx="5138532" cy="2926080"/>
        </p:xfrm>
        <a:graphic>
          <a:graphicData uri="http://schemas.openxmlformats.org/drawingml/2006/table">
            <a:tbl>
              <a:tblPr/>
              <a:tblGrid>
                <a:gridCol w="2569266">
                  <a:extLst>
                    <a:ext uri="{9D8B030D-6E8A-4147-A177-3AD203B41FA5}">
                      <a16:colId xmlns:a16="http://schemas.microsoft.com/office/drawing/2014/main" val="4212741823"/>
                    </a:ext>
                  </a:extLst>
                </a:gridCol>
                <a:gridCol w="2569266">
                  <a:extLst>
                    <a:ext uri="{9D8B030D-6E8A-4147-A177-3AD203B41FA5}">
                      <a16:colId xmlns:a16="http://schemas.microsoft.com/office/drawing/2014/main" val="1509469821"/>
                    </a:ext>
                  </a:extLst>
                </a:gridCol>
              </a:tblGrid>
              <a:tr h="0">
                <a:tc>
                  <a:txBody>
                    <a:bodyPr/>
                    <a:lstStyle/>
                    <a:p>
                      <a:pPr algn="ctr">
                        <a:buNone/>
                      </a:pPr>
                      <a:r>
                        <a:rPr lang="en-US" b="1" dirty="0">
                          <a:solidFill>
                            <a:schemeClr val="bg1"/>
                          </a:solidFill>
                        </a:rPr>
                        <a:t>Risk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solidFill>
                  </a:tcPr>
                </a:tc>
                <a:tc>
                  <a:txBody>
                    <a:bodyPr/>
                    <a:lstStyle/>
                    <a:p>
                      <a:pPr algn="ctr">
                        <a:buNone/>
                      </a:pPr>
                      <a:r>
                        <a:rPr lang="en-US" b="1" dirty="0">
                          <a:solidFill>
                            <a:schemeClr val="bg1"/>
                          </a:solidFill>
                        </a:rPr>
                        <a:t>Your Control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1847239507"/>
                  </a:ext>
                </a:extLst>
              </a:tr>
              <a:tr h="0">
                <a:tc>
                  <a:txBody>
                    <a:bodyPr/>
                    <a:lstStyle/>
                    <a:p>
                      <a:pPr algn="ctr">
                        <a:buNone/>
                      </a:pPr>
                      <a:r>
                        <a:rPr lang="en-US" dirty="0"/>
                        <a:t>Hallucination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dirty="0"/>
                        <a:t>Template + Analytical Engine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0533011"/>
                  </a:ext>
                </a:extLst>
              </a:tr>
              <a:tr h="0">
                <a:tc>
                  <a:txBody>
                    <a:bodyPr/>
                    <a:lstStyle/>
                    <a:p>
                      <a:pPr algn="ctr">
                        <a:buNone/>
                      </a:pPr>
                      <a:r>
                        <a:rPr lang="en-US"/>
                        <a:t>Inconsistency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dirty="0"/>
                        <a:t>Dependency Engine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6099872"/>
                  </a:ext>
                </a:extLst>
              </a:tr>
              <a:tr h="0">
                <a:tc>
                  <a:txBody>
                    <a:bodyPr/>
                    <a:lstStyle/>
                    <a:p>
                      <a:pPr algn="ctr">
                        <a:buNone/>
                      </a:pPr>
                      <a:r>
                        <a:rPr lang="en-US"/>
                        <a:t>Traceability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dirty="0"/>
                        <a:t>Knowledge Graph/Persistence state/validation certificate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16559823"/>
                  </a:ext>
                </a:extLst>
              </a:tr>
              <a:tr h="0">
                <a:tc>
                  <a:txBody>
                    <a:bodyPr/>
                    <a:lstStyle/>
                    <a:p>
                      <a:pPr algn="ctr">
                        <a:buNone/>
                      </a:pPr>
                      <a:r>
                        <a:rPr lang="en-US"/>
                        <a:t>Compliance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dirty="0"/>
                        <a:t>Validator Layer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6094126"/>
                  </a:ext>
                </a:extLst>
              </a:tr>
            </a:tbl>
          </a:graphicData>
        </a:graphic>
      </p:graphicFrame>
      <p:graphicFrame>
        <p:nvGraphicFramePr>
          <p:cNvPr id="3" name="Table 2">
            <a:extLst>
              <a:ext uri="{FF2B5EF4-FFF2-40B4-BE49-F238E27FC236}">
                <a16:creationId xmlns:a16="http://schemas.microsoft.com/office/drawing/2014/main" id="{92A28545-BBC7-7C87-CB87-5458AAE3D677}"/>
              </a:ext>
            </a:extLst>
          </p:cNvPr>
          <p:cNvGraphicFramePr>
            <a:graphicFrameLocks noGrp="1"/>
          </p:cNvGraphicFramePr>
          <p:nvPr>
            <p:extLst>
              <p:ext uri="{D42A27DB-BD31-4B8C-83A1-F6EECF244321}">
                <p14:modId xmlns:p14="http://schemas.microsoft.com/office/powerpoint/2010/main" val="688494871"/>
              </p:ext>
            </p:extLst>
          </p:nvPr>
        </p:nvGraphicFramePr>
        <p:xfrm>
          <a:off x="427900" y="1470657"/>
          <a:ext cx="5923672" cy="3566160"/>
        </p:xfrm>
        <a:graphic>
          <a:graphicData uri="http://schemas.openxmlformats.org/drawingml/2006/table">
            <a:tbl>
              <a:tblPr/>
              <a:tblGrid>
                <a:gridCol w="2961836">
                  <a:extLst>
                    <a:ext uri="{9D8B030D-6E8A-4147-A177-3AD203B41FA5}">
                      <a16:colId xmlns:a16="http://schemas.microsoft.com/office/drawing/2014/main" val="2501005605"/>
                    </a:ext>
                  </a:extLst>
                </a:gridCol>
                <a:gridCol w="2961836">
                  <a:extLst>
                    <a:ext uri="{9D8B030D-6E8A-4147-A177-3AD203B41FA5}">
                      <a16:colId xmlns:a16="http://schemas.microsoft.com/office/drawing/2014/main" val="1010499931"/>
                    </a:ext>
                  </a:extLst>
                </a:gridCol>
              </a:tblGrid>
              <a:tr h="338474">
                <a:tc>
                  <a:txBody>
                    <a:bodyPr/>
                    <a:lstStyle/>
                    <a:p>
                      <a:pPr>
                        <a:buNone/>
                      </a:pPr>
                      <a:r>
                        <a:rPr lang="en-US" b="1">
                          <a:effectLst/>
                        </a:rPr>
                        <a:t>Traditional Authoring</a:t>
                      </a:r>
                      <a:endParaRPr lang="en-US">
                        <a:effectLst/>
                      </a:endParaRP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5F5F5"/>
                    </a:solidFill>
                  </a:tcPr>
                </a:tc>
                <a:tc>
                  <a:txBody>
                    <a:bodyPr/>
                    <a:lstStyle/>
                    <a:p>
                      <a:pPr>
                        <a:buNone/>
                      </a:pPr>
                      <a:r>
                        <a:rPr lang="en-US" b="1" dirty="0">
                          <a:effectLst/>
                        </a:rPr>
                        <a:t>AI‑Driven Authoring</a:t>
                      </a:r>
                      <a:endParaRPr lang="en-US" dirty="0">
                        <a:effectLst/>
                      </a:endParaRP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5F5F5"/>
                    </a:solidFill>
                  </a:tcPr>
                </a:tc>
                <a:extLst>
                  <a:ext uri="{0D108BD9-81ED-4DB2-BD59-A6C34878D82A}">
                    <a16:rowId xmlns:a16="http://schemas.microsoft.com/office/drawing/2014/main" val="2541591652"/>
                  </a:ext>
                </a:extLst>
              </a:tr>
              <a:tr h="338474">
                <a:tc>
                  <a:txBody>
                    <a:bodyPr/>
                    <a:lstStyle/>
                    <a:p>
                      <a:pPr>
                        <a:buNone/>
                      </a:pPr>
                      <a:r>
                        <a:rPr lang="en-US">
                          <a:effectLst/>
                        </a:rPr>
                        <a:t>Manual drafting across documents</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noFill/>
                  </a:tcPr>
                </a:tc>
                <a:tc>
                  <a:txBody>
                    <a:bodyPr/>
                    <a:lstStyle/>
                    <a:p>
                      <a:pPr>
                        <a:buNone/>
                      </a:pPr>
                      <a:r>
                        <a:rPr lang="en-US">
                          <a:effectLst/>
                        </a:rPr>
                        <a:t>AI‑assisted, guided content generation</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noFill/>
                  </a:tcPr>
                </a:tc>
                <a:extLst>
                  <a:ext uri="{0D108BD9-81ED-4DB2-BD59-A6C34878D82A}">
                    <a16:rowId xmlns:a16="http://schemas.microsoft.com/office/drawing/2014/main" val="1508678754"/>
                  </a:ext>
                </a:extLst>
              </a:tr>
              <a:tr h="338474">
                <a:tc>
                  <a:txBody>
                    <a:bodyPr/>
                    <a:lstStyle/>
                    <a:p>
                      <a:pPr>
                        <a:buNone/>
                      </a:pPr>
                      <a:r>
                        <a:rPr lang="en-US">
                          <a:effectLst/>
                        </a:rPr>
                        <a:t>Repetitive copy‑paste</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noFill/>
                  </a:tcPr>
                </a:tc>
                <a:tc>
                  <a:txBody>
                    <a:bodyPr/>
                    <a:lstStyle/>
                    <a:p>
                      <a:pPr>
                        <a:buNone/>
                      </a:pPr>
                      <a:r>
                        <a:rPr lang="en-US">
                          <a:effectLst/>
                        </a:rPr>
                        <a:t>CSR as reusable evidence source</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noFill/>
                  </a:tcPr>
                </a:tc>
                <a:extLst>
                  <a:ext uri="{0D108BD9-81ED-4DB2-BD59-A6C34878D82A}">
                    <a16:rowId xmlns:a16="http://schemas.microsoft.com/office/drawing/2014/main" val="3964502400"/>
                  </a:ext>
                </a:extLst>
              </a:tr>
              <a:tr h="338474">
                <a:tc>
                  <a:txBody>
                    <a:bodyPr/>
                    <a:lstStyle/>
                    <a:p>
                      <a:pPr>
                        <a:buNone/>
                      </a:pPr>
                      <a:r>
                        <a:rPr lang="en-US">
                          <a:effectLst/>
                        </a:rPr>
                        <a:t>High inconsistency risk</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noFill/>
                  </a:tcPr>
                </a:tc>
                <a:tc>
                  <a:txBody>
                    <a:bodyPr/>
                    <a:lstStyle/>
                    <a:p>
                      <a:pPr>
                        <a:buNone/>
                      </a:pPr>
                      <a:r>
                        <a:rPr lang="en-US" dirty="0">
                          <a:effectLst/>
                        </a:rPr>
                        <a:t>Built‑in data &amp; semantic consistency</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noFill/>
                  </a:tcPr>
                </a:tc>
                <a:extLst>
                  <a:ext uri="{0D108BD9-81ED-4DB2-BD59-A6C34878D82A}">
                    <a16:rowId xmlns:a16="http://schemas.microsoft.com/office/drawing/2014/main" val="2028482933"/>
                  </a:ext>
                </a:extLst>
              </a:tr>
              <a:tr h="338474">
                <a:tc>
                  <a:txBody>
                    <a:bodyPr/>
                    <a:lstStyle/>
                    <a:p>
                      <a:pPr>
                        <a:buNone/>
                      </a:pPr>
                      <a:r>
                        <a:rPr lang="en-US">
                          <a:effectLst/>
                        </a:rPr>
                        <a:t>Limited traceability</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noFill/>
                  </a:tcPr>
                </a:tc>
                <a:tc>
                  <a:txBody>
                    <a:bodyPr/>
                    <a:lstStyle/>
                    <a:p>
                      <a:pPr>
                        <a:buNone/>
                      </a:pPr>
                      <a:r>
                        <a:rPr lang="en-US">
                          <a:effectLst/>
                        </a:rPr>
                        <a:t>End‑to‑end traceability by design</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noFill/>
                  </a:tcPr>
                </a:tc>
                <a:extLst>
                  <a:ext uri="{0D108BD9-81ED-4DB2-BD59-A6C34878D82A}">
                    <a16:rowId xmlns:a16="http://schemas.microsoft.com/office/drawing/2014/main" val="3986906642"/>
                  </a:ext>
                </a:extLst>
              </a:tr>
              <a:tr h="338474">
                <a:tc>
                  <a:txBody>
                    <a:bodyPr/>
                    <a:lstStyle/>
                    <a:p>
                      <a:pPr>
                        <a:buNone/>
                      </a:pPr>
                      <a:r>
                        <a:rPr lang="en-US">
                          <a:effectLst/>
                        </a:rPr>
                        <a:t>High review burden</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noFill/>
                  </a:tcPr>
                </a:tc>
                <a:tc>
                  <a:txBody>
                    <a:bodyPr/>
                    <a:lstStyle/>
                    <a:p>
                      <a:pPr>
                        <a:buNone/>
                      </a:pPr>
                      <a:r>
                        <a:rPr lang="en-US" dirty="0">
                          <a:effectLst/>
                        </a:rPr>
                        <a:t>Faster review with aligned content</a:t>
                      </a:r>
                    </a:p>
                  </a:txBody>
                  <a:tcPr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noFill/>
                  </a:tcPr>
                </a:tc>
                <a:extLst>
                  <a:ext uri="{0D108BD9-81ED-4DB2-BD59-A6C34878D82A}">
                    <a16:rowId xmlns:a16="http://schemas.microsoft.com/office/drawing/2014/main" val="222099237"/>
                  </a:ext>
                </a:extLst>
              </a:tr>
            </a:tbl>
          </a:graphicData>
        </a:graphic>
      </p:graphicFrame>
    </p:spTree>
    <p:extLst>
      <p:ext uri="{BB962C8B-B14F-4D97-AF65-F5344CB8AC3E}">
        <p14:creationId xmlns:p14="http://schemas.microsoft.com/office/powerpoint/2010/main" val="27548514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6928</TotalTime>
  <Words>410</Words>
  <Application>Microsoft Macintosh PowerPoint</Application>
  <PresentationFormat>Widescreen</PresentationFormat>
  <Paragraphs>59</Paragraphs>
  <Slides>5</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Aptos</vt:lpstr>
      <vt:lpstr>Aptos Display</vt:lpstr>
      <vt:lpstr>Arial</vt:lpstr>
      <vt:lpstr>Segoe UI</vt:lpstr>
      <vt:lpstr>Office Theme</vt:lpstr>
      <vt:lpstr>PowerPoint Presentation</vt:lpstr>
      <vt:lpstr>PowerPoint Presentation</vt:lpstr>
      <vt:lpstr>PowerPoint Presentation</vt:lpstr>
      <vt:lpstr>Example: How risk is minimised</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Mritunjay Kumar</dc:creator>
  <cp:lastModifiedBy>Mritunjay Kumar</cp:lastModifiedBy>
  <cp:revision>4</cp:revision>
  <dcterms:created xsi:type="dcterms:W3CDTF">2026-04-10T12:54:55Z</dcterms:created>
  <dcterms:modified xsi:type="dcterms:W3CDTF">2026-04-18T03:32:39Z</dcterms:modified>
</cp:coreProperties>
</file>